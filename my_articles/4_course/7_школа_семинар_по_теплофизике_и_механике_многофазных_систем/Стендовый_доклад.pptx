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" d="100"/>
          <a:sy n="20" d="100"/>
        </p:scale>
        <p:origin x="24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A31F4-7C40-4937-A1B5-944647787670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2121A-2DFB-4F10-AA8F-E830B83814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935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1pPr>
    <a:lvl2pPr marL="1239789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2pPr>
    <a:lvl3pPr marL="2479578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3pPr>
    <a:lvl4pPr marL="3719368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4pPr>
    <a:lvl5pPr marL="4959157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5pPr>
    <a:lvl6pPr marL="6198946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6pPr>
    <a:lvl7pPr marL="7438735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7pPr>
    <a:lvl8pPr marL="8678525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8pPr>
    <a:lvl9pPr marL="9918314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2121A-2DFB-4F10-AA8F-E830B838142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4864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CFFB-BB87-47E2-8FAE-564B5E8E2330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A165-BB28-448C-B0BF-EF2E81E37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6893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CFFB-BB87-47E2-8FAE-564B5E8E2330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A165-BB28-448C-B0BF-EF2E81E37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18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CFFB-BB87-47E2-8FAE-564B5E8E2330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A165-BB28-448C-B0BF-EF2E81E37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253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CFFB-BB87-47E2-8FAE-564B5E8E2330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A165-BB28-448C-B0BF-EF2E81E37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1357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CFFB-BB87-47E2-8FAE-564B5E8E2330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A165-BB28-448C-B0BF-EF2E81E37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360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CFFB-BB87-47E2-8FAE-564B5E8E2330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A165-BB28-448C-B0BF-EF2E81E37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9815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CFFB-BB87-47E2-8FAE-564B5E8E2330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A165-BB28-448C-B0BF-EF2E81E37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3229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CFFB-BB87-47E2-8FAE-564B5E8E2330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A165-BB28-448C-B0BF-EF2E81E37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917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CFFB-BB87-47E2-8FAE-564B5E8E2330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A165-BB28-448C-B0BF-EF2E81E37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478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CFFB-BB87-47E2-8FAE-564B5E8E2330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A165-BB28-448C-B0BF-EF2E81E37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635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CFFB-BB87-47E2-8FAE-564B5E8E2330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A165-BB28-448C-B0BF-EF2E81E37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629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CCFFB-BB87-47E2-8FAE-564B5E8E2330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4A165-BB28-448C-B0BF-EF2E81E37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423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emf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jpe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C7AB8B-C405-F192-AB01-E3F1E8F6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71" y="342534"/>
            <a:ext cx="3762977" cy="1663346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1FF87E7-5064-05E6-AC76-2747BE718BB2}"/>
              </a:ext>
            </a:extLst>
          </p:cNvPr>
          <p:cNvSpPr/>
          <p:nvPr/>
        </p:nvSpPr>
        <p:spPr>
          <a:xfrm>
            <a:off x="78019" y="176492"/>
            <a:ext cx="21181866" cy="391544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1C8F6A-1075-A94A-9301-CFDE8558D6B9}"/>
              </a:ext>
            </a:extLst>
          </p:cNvPr>
          <p:cNvSpPr txBox="1"/>
          <p:nvPr/>
        </p:nvSpPr>
        <p:spPr>
          <a:xfrm>
            <a:off x="3177540" y="448261"/>
            <a:ext cx="15544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математических методов моделирования в задачах тепломассопереноса: численных и аналитических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Колбеко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А.Б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аспирант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ТюмГУ</a:t>
            </a:r>
          </a:p>
          <a:p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Ганопольский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Р.М. – научный руководитель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к.ф.-м.н.,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зав.кафедрой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моделирования физических процессов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Школы естественных наук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ТюмГУ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209F67F-7B84-9595-3065-238BDCD1A576}"/>
              </a:ext>
            </a:extLst>
          </p:cNvPr>
          <p:cNvSpPr/>
          <p:nvPr/>
        </p:nvSpPr>
        <p:spPr>
          <a:xfrm>
            <a:off x="68580" y="4185636"/>
            <a:ext cx="10584000" cy="7959340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6996F6A-6023-2908-FA1A-41AE4AF6BE17}"/>
              </a:ext>
            </a:extLst>
          </p:cNvPr>
          <p:cNvSpPr/>
          <p:nvPr/>
        </p:nvSpPr>
        <p:spPr>
          <a:xfrm>
            <a:off x="10731046" y="4185636"/>
            <a:ext cx="10528839" cy="7959340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FB2F2A4-A165-A9F2-0D08-EA43C15DB3A6}"/>
              </a:ext>
            </a:extLst>
          </p:cNvPr>
          <p:cNvSpPr/>
          <p:nvPr/>
        </p:nvSpPr>
        <p:spPr>
          <a:xfrm>
            <a:off x="68581" y="12238672"/>
            <a:ext cx="21191304" cy="1130712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9F45BAE-BCBA-FA58-AE63-BBB98CC30951}"/>
              </a:ext>
            </a:extLst>
          </p:cNvPr>
          <p:cNvSpPr/>
          <p:nvPr/>
        </p:nvSpPr>
        <p:spPr>
          <a:xfrm>
            <a:off x="10691812" y="23791896"/>
            <a:ext cx="10454725" cy="630682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3F68359-CAEA-96A5-C2D8-10DACFE303AD}"/>
              </a:ext>
            </a:extLst>
          </p:cNvPr>
          <p:cNvSpPr/>
          <p:nvPr/>
        </p:nvSpPr>
        <p:spPr>
          <a:xfrm>
            <a:off x="68580" y="23791895"/>
            <a:ext cx="10454725" cy="630682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A6CF6C-7039-5965-6131-BEA295622E0D}"/>
              </a:ext>
            </a:extLst>
          </p:cNvPr>
          <p:cNvSpPr txBox="1"/>
          <p:nvPr/>
        </p:nvSpPr>
        <p:spPr>
          <a:xfrm>
            <a:off x="116839" y="5744181"/>
            <a:ext cx="45995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Прикладная проблема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эксплуатация скважин на месторождениях с аномальными пластовыми давлениями и температурами сопровождается вынужденными остановками для проведения ГТМ обработок ПЗП от газовых гидратов, что снижает рентабельность и вызывает дополнительные операционные расходы.</a:t>
            </a:r>
          </a:p>
          <a:p>
            <a:pPr algn="just"/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Научная проблема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Существующие физико-математических модели, алгоритмы, программные комплексы не в полной мере позволяют достоверно моделировать процессы тепломассопереноса в газовых и газоконденсатных пластах с аномальными термобарическими условиями с учетом падения ФЭС призабойной зоны вследствие образования газовых гидратов.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4E7FC86C-1CDA-5823-017F-5F4629E9D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306" y="4251204"/>
            <a:ext cx="5450872" cy="404945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CB21DBC-DEF8-BAFB-B4D3-764F3BF56768}"/>
              </a:ext>
            </a:extLst>
          </p:cNvPr>
          <p:cNvSpPr txBox="1"/>
          <p:nvPr/>
        </p:nvSpPr>
        <p:spPr>
          <a:xfrm>
            <a:off x="56927" y="4564364"/>
            <a:ext cx="488623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Традиционные методы моделирования разработки: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Гидродинамическое моделирование (Black Oil)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Гидродинамическое моделирование (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Compositional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Прокси-модели (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ARCHER)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 на основе линий тока (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streamline-based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simulators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C56E49-900A-0551-7FA2-601E4CA5414F}"/>
              </a:ext>
            </a:extLst>
          </p:cNvPr>
          <p:cNvSpPr txBox="1"/>
          <p:nvPr/>
        </p:nvSpPr>
        <p:spPr>
          <a:xfrm>
            <a:off x="4943158" y="8213981"/>
            <a:ext cx="5592309" cy="71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Укрупненная группировка упоминаемых в публикациях месторождений на стратиграфической шкале (на основе материалов всероссийского научно-исследовательского геологического института им. А.П. Карпинского)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EF38A2-27B2-5E5B-A437-8FE6CE15805D}"/>
              </a:ext>
            </a:extLst>
          </p:cNvPr>
          <p:cNvSpPr txBox="1"/>
          <p:nvPr/>
        </p:nvSpPr>
        <p:spPr>
          <a:xfrm>
            <a:off x="404747" y="9221622"/>
            <a:ext cx="10070431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l">
              <a:spcBef>
                <a:spcPts val="600"/>
              </a:spcBef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Исследовать, разработать и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реализовать метод для моделирования процессов тепломассопереноса в газовых и газоконденсатных пластах с аномальными термобарическими условиями с учетом падения ФЭС призабойной зоны за счет образования газовых гидратов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457200" algn="l">
              <a:spcBef>
                <a:spcPts val="600"/>
              </a:spcBef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численных экспериментов по моделированию работы скважин в залежах с аномальными термобарическими условиями с применением существующих программных комплексов.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метода физико-математического моделирования фильтрации с учетом образования газовых гидратов в призабойной зоне скважины.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комплекса для численного решение предлагаемой физико-математической модели.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Верификация разработанного программного комплекса путем моделирования динамики работы скважин и сопоставления с фактическими профилями добычи, существующими программными комплексами.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DC3CA81A-3FD1-AA61-8AE1-C02819FAC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3560" y="303045"/>
            <a:ext cx="3762977" cy="166334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9CCDFF4-E65F-7DE5-3B17-085CE0C54535}"/>
              </a:ext>
            </a:extLst>
          </p:cNvPr>
          <p:cNvSpPr txBox="1"/>
          <p:nvPr/>
        </p:nvSpPr>
        <p:spPr>
          <a:xfrm>
            <a:off x="10882848" y="4232733"/>
            <a:ext cx="102993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arenR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 исследования происходит уменьшение диаметра устьевого штуцера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отработки скважины на режимах от 3 до 34 часов.</a:t>
            </a:r>
          </a:p>
          <a:p>
            <a:pPr algn="just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На основе данных ГДИ строится кривая продуктивности</a:t>
            </a:r>
          </a:p>
          <a:p>
            <a:pPr algn="just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Скважины с аномальным поведением кривой – кандидаты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моделивания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0F1ACF71-8117-9602-F9CD-7B98902CA3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1830" y="4920478"/>
            <a:ext cx="2400692" cy="1769224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9E78BCCF-E03A-386F-2151-B49AD54FE8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35823" y="4899567"/>
            <a:ext cx="2338354" cy="1723282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E0F2AEB-D353-4EFC-3A66-D6AFE6300A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44499" y="6813849"/>
            <a:ext cx="2414249" cy="1779215"/>
          </a:xfrm>
          <a:prstGeom prst="rect">
            <a:avLst/>
          </a:prstGeom>
        </p:spPr>
      </p:pic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DD51154A-17E4-0174-8971-50A41C7EFFFD}"/>
              </a:ext>
            </a:extLst>
          </p:cNvPr>
          <p:cNvGrpSpPr/>
          <p:nvPr/>
        </p:nvGrpSpPr>
        <p:grpSpPr>
          <a:xfrm>
            <a:off x="13489588" y="6781262"/>
            <a:ext cx="2414247" cy="1779213"/>
            <a:chOff x="10988747" y="8680340"/>
            <a:chExt cx="2414247" cy="1779213"/>
          </a:xfrm>
        </p:grpSpPr>
        <p:pic>
          <p:nvPicPr>
            <p:cNvPr id="35" name="Рисунок 34">
              <a:extLst>
                <a:ext uri="{FF2B5EF4-FFF2-40B4-BE49-F238E27FC236}">
                  <a16:creationId xmlns:a16="http://schemas.microsoft.com/office/drawing/2014/main" id="{4C33BD1A-6E5F-A84F-E4DE-F9C058D6E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988747" y="8680340"/>
              <a:ext cx="2414247" cy="1779213"/>
            </a:xfrm>
            <a:prstGeom prst="rect">
              <a:avLst/>
            </a:prstGeom>
            <a:ln>
              <a:solidFill>
                <a:srgbClr val="FFC000"/>
              </a:solidFill>
            </a:ln>
          </p:spPr>
        </p:pic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F5158E2F-5160-DC75-667B-6C75F484C984}"/>
                </a:ext>
              </a:extLst>
            </p:cNvPr>
            <p:cNvSpPr/>
            <p:nvPr/>
          </p:nvSpPr>
          <p:spPr>
            <a:xfrm rot="198192">
              <a:off x="11246978" y="8857117"/>
              <a:ext cx="2133107" cy="15237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422AE315-DC86-0ECC-B2CB-F7857F18223C}"/>
                </a:ext>
              </a:extLst>
            </p:cNvPr>
            <p:cNvSpPr/>
            <p:nvPr/>
          </p:nvSpPr>
          <p:spPr>
            <a:xfrm rot="1435194">
              <a:off x="11137040" y="9030606"/>
              <a:ext cx="1380637" cy="27108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4B691E26-5BB3-5F74-D918-66A8F5B4F2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8275" y="6785303"/>
            <a:ext cx="2414248" cy="1779214"/>
          </a:xfrm>
          <a:prstGeom prst="rect">
            <a:avLst/>
          </a:prstGeom>
        </p:spPr>
      </p:pic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D5740A83-8FAE-3077-5415-05ECFBE7E156}"/>
              </a:ext>
            </a:extLst>
          </p:cNvPr>
          <p:cNvGrpSpPr/>
          <p:nvPr/>
        </p:nvGrpSpPr>
        <p:grpSpPr>
          <a:xfrm>
            <a:off x="13489588" y="4899567"/>
            <a:ext cx="2468547" cy="1819231"/>
            <a:chOff x="13669838" y="8640322"/>
            <a:chExt cx="2468547" cy="1819231"/>
          </a:xfrm>
        </p:grpSpPr>
        <p:pic>
          <p:nvPicPr>
            <p:cNvPr id="40" name="Рисунок 39">
              <a:extLst>
                <a:ext uri="{FF2B5EF4-FFF2-40B4-BE49-F238E27FC236}">
                  <a16:creationId xmlns:a16="http://schemas.microsoft.com/office/drawing/2014/main" id="{45397685-7593-0890-3D65-44DA9D3D3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669838" y="8640322"/>
              <a:ext cx="2468547" cy="1819231"/>
            </a:xfrm>
            <a:prstGeom prst="rect">
              <a:avLst/>
            </a:prstGeom>
            <a:ln>
              <a:solidFill>
                <a:srgbClr val="FFC000"/>
              </a:solidFill>
            </a:ln>
          </p:spPr>
        </p:pic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id="{06FE277D-C86D-8D13-C52B-8F31E3C97101}"/>
                </a:ext>
              </a:extLst>
            </p:cNvPr>
            <p:cNvCxnSpPr>
              <a:cxnSpLocks/>
            </p:cNvCxnSpPr>
            <p:nvPr/>
          </p:nvCxnSpPr>
          <p:spPr>
            <a:xfrm>
              <a:off x="13972495" y="9051578"/>
              <a:ext cx="1540034" cy="1145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id="{FA793B79-1AF3-B4CB-6B9F-E6137FCBEF5A}"/>
                </a:ext>
              </a:extLst>
            </p:cNvPr>
            <p:cNvCxnSpPr>
              <a:cxnSpLocks/>
            </p:cNvCxnSpPr>
            <p:nvPr/>
          </p:nvCxnSpPr>
          <p:spPr>
            <a:xfrm>
              <a:off x="15055519" y="9051578"/>
              <a:ext cx="783199" cy="2928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FCEBB142-A381-0E0E-F5BF-7EB68864282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548871" y="6813849"/>
            <a:ext cx="2414248" cy="1779215"/>
          </a:xfrm>
          <a:prstGeom prst="rect">
            <a:avLst/>
          </a:prstGeom>
          <a:ln>
            <a:solidFill>
              <a:srgbClr val="FFC000"/>
            </a:solidFill>
          </a:ln>
        </p:spPr>
      </p:pic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8117BE87-1E52-8420-887C-0498197D03A2}"/>
              </a:ext>
            </a:extLst>
          </p:cNvPr>
          <p:cNvCxnSpPr>
            <a:cxnSpLocks/>
          </p:cNvCxnSpPr>
          <p:nvPr/>
        </p:nvCxnSpPr>
        <p:spPr>
          <a:xfrm>
            <a:off x="19162734" y="7026654"/>
            <a:ext cx="1565507" cy="2787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EEBD41F2-B05D-305A-9E56-2B7374AF2940}"/>
              </a:ext>
            </a:extLst>
          </p:cNvPr>
          <p:cNvCxnSpPr>
            <a:cxnSpLocks/>
          </p:cNvCxnSpPr>
          <p:nvPr/>
        </p:nvCxnSpPr>
        <p:spPr>
          <a:xfrm>
            <a:off x="20643265" y="7112780"/>
            <a:ext cx="84976" cy="465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1A5AA1F6-2A8A-8A6E-2AEB-5771F8F20610}"/>
              </a:ext>
            </a:extLst>
          </p:cNvPr>
          <p:cNvCxnSpPr>
            <a:cxnSpLocks/>
          </p:cNvCxnSpPr>
          <p:nvPr/>
        </p:nvCxnSpPr>
        <p:spPr>
          <a:xfrm>
            <a:off x="16308367" y="5311780"/>
            <a:ext cx="2019480" cy="95369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единительная линия 71">
            <a:extLst>
              <a:ext uri="{FF2B5EF4-FFF2-40B4-BE49-F238E27FC236}">
                <a16:creationId xmlns:a16="http://schemas.microsoft.com/office/drawing/2014/main" id="{EF9A7996-E2DD-DB5D-0A12-36C55364FF04}"/>
              </a:ext>
            </a:extLst>
          </p:cNvPr>
          <p:cNvCxnSpPr>
            <a:cxnSpLocks/>
          </p:cNvCxnSpPr>
          <p:nvPr/>
        </p:nvCxnSpPr>
        <p:spPr>
          <a:xfrm>
            <a:off x="17500914" y="5302272"/>
            <a:ext cx="967077" cy="32712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Рисунок 74">
            <a:extLst>
              <a:ext uri="{FF2B5EF4-FFF2-40B4-BE49-F238E27FC236}">
                <a16:creationId xmlns:a16="http://schemas.microsoft.com/office/drawing/2014/main" id="{B10D018E-654F-4626-BA0C-045AF5D768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506656" y="4899567"/>
            <a:ext cx="2320292" cy="1709972"/>
          </a:xfrm>
          <a:prstGeom prst="rect">
            <a:avLst/>
          </a:prstGeom>
          <a:ln>
            <a:solidFill>
              <a:srgbClr val="FFC000"/>
            </a:solidFill>
          </a:ln>
        </p:spPr>
      </p:pic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id="{0CE6F449-D2A0-1125-2960-8CB193BD1539}"/>
              </a:ext>
            </a:extLst>
          </p:cNvPr>
          <p:cNvCxnSpPr>
            <a:cxnSpLocks/>
          </p:cNvCxnSpPr>
          <p:nvPr/>
        </p:nvCxnSpPr>
        <p:spPr>
          <a:xfrm>
            <a:off x="18709913" y="5015454"/>
            <a:ext cx="2117035" cy="1590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id="{42105A6E-E02E-AFB9-CC6B-C756047FD822}"/>
              </a:ext>
            </a:extLst>
          </p:cNvPr>
          <p:cNvCxnSpPr>
            <a:cxnSpLocks/>
          </p:cNvCxnSpPr>
          <p:nvPr/>
        </p:nvCxnSpPr>
        <p:spPr>
          <a:xfrm>
            <a:off x="20001046" y="4940386"/>
            <a:ext cx="529795" cy="7553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Группа 85">
            <a:extLst>
              <a:ext uri="{FF2B5EF4-FFF2-40B4-BE49-F238E27FC236}">
                <a16:creationId xmlns:a16="http://schemas.microsoft.com/office/drawing/2014/main" id="{024A1AAD-2735-D5CF-6DEF-CDE2553B95DC}"/>
              </a:ext>
            </a:extLst>
          </p:cNvPr>
          <p:cNvGrpSpPr/>
          <p:nvPr/>
        </p:nvGrpSpPr>
        <p:grpSpPr>
          <a:xfrm>
            <a:off x="13382500" y="8675075"/>
            <a:ext cx="7645000" cy="3429497"/>
            <a:chOff x="10975099" y="8674750"/>
            <a:chExt cx="7645000" cy="3429497"/>
          </a:xfrm>
        </p:grpSpPr>
        <p:grpSp>
          <p:nvGrpSpPr>
            <p:cNvPr id="80" name="Группа 79">
              <a:extLst>
                <a:ext uri="{FF2B5EF4-FFF2-40B4-BE49-F238E27FC236}">
                  <a16:creationId xmlns:a16="http://schemas.microsoft.com/office/drawing/2014/main" id="{E227EF6E-3748-A66D-083D-4A6816A509C2}"/>
                </a:ext>
              </a:extLst>
            </p:cNvPr>
            <p:cNvGrpSpPr/>
            <p:nvPr/>
          </p:nvGrpSpPr>
          <p:grpSpPr>
            <a:xfrm>
              <a:off x="10975099" y="8674750"/>
              <a:ext cx="2470682" cy="3429497"/>
              <a:chOff x="13626855" y="4923359"/>
              <a:chExt cx="2470682" cy="3429497"/>
            </a:xfrm>
          </p:grpSpPr>
          <p:pic>
            <p:nvPicPr>
              <p:cNvPr id="32" name="Рисунок 31">
                <a:extLst>
                  <a:ext uri="{FF2B5EF4-FFF2-40B4-BE49-F238E27FC236}">
                    <a16:creationId xmlns:a16="http://schemas.microsoft.com/office/drawing/2014/main" id="{3AFBC91E-F6D8-47B6-DDD0-5C10A06281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626855" y="4923359"/>
                <a:ext cx="2427698" cy="1710799"/>
              </a:xfrm>
              <a:prstGeom prst="rect">
                <a:avLst/>
              </a:prstGeom>
              <a:ln>
                <a:solidFill>
                  <a:srgbClr val="FFC000"/>
                </a:solidFill>
              </a:ln>
            </p:spPr>
          </p:pic>
          <p:pic>
            <p:nvPicPr>
              <p:cNvPr id="43" name="Рисунок 42">
                <a:extLst>
                  <a:ext uri="{FF2B5EF4-FFF2-40B4-BE49-F238E27FC236}">
                    <a16:creationId xmlns:a16="http://schemas.microsoft.com/office/drawing/2014/main" id="{3B50DCF6-C3C5-B237-C954-07F96B901B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669838" y="6703257"/>
                <a:ext cx="2384715" cy="1649599"/>
              </a:xfrm>
              <a:prstGeom prst="rect">
                <a:avLst/>
              </a:prstGeom>
              <a:ln>
                <a:solidFill>
                  <a:srgbClr val="FFC000"/>
                </a:solidFill>
              </a:ln>
            </p:spPr>
          </p:pic>
          <p:cxnSp>
            <p:nvCxnSpPr>
              <p:cNvPr id="56" name="Прямая соединительная линия 55">
                <a:extLst>
                  <a:ext uri="{FF2B5EF4-FFF2-40B4-BE49-F238E27FC236}">
                    <a16:creationId xmlns:a16="http://schemas.microsoft.com/office/drawing/2014/main" id="{A5DEEC69-A19F-2504-5712-72A0BD05A0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3303" y="5134074"/>
                <a:ext cx="1945210" cy="216293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Прямая соединительная линия 59">
                <a:extLst>
                  <a:ext uri="{FF2B5EF4-FFF2-40B4-BE49-F238E27FC236}">
                    <a16:creationId xmlns:a16="http://schemas.microsoft.com/office/drawing/2014/main" id="{B101653F-84FB-F862-4789-1479BF13D4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55519" y="5218218"/>
                <a:ext cx="1042018" cy="264298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82" name="Рисунок 81">
              <a:extLst>
                <a:ext uri="{FF2B5EF4-FFF2-40B4-BE49-F238E27FC236}">
                  <a16:creationId xmlns:a16="http://schemas.microsoft.com/office/drawing/2014/main" id="{4301C9D5-4AE7-8305-FFDF-064C0A1D0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3527252" y="10440132"/>
              <a:ext cx="2517247" cy="1639422"/>
            </a:xfrm>
            <a:prstGeom prst="rect">
              <a:avLst/>
            </a:prstGeom>
          </p:spPr>
        </p:pic>
        <p:pic>
          <p:nvPicPr>
            <p:cNvPr id="83" name="Рисунок 82">
              <a:extLst>
                <a:ext uri="{FF2B5EF4-FFF2-40B4-BE49-F238E27FC236}">
                  <a16:creationId xmlns:a16="http://schemas.microsoft.com/office/drawing/2014/main" id="{E33B41BC-8157-E953-9025-13177926D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6110983" y="10440132"/>
              <a:ext cx="2509116" cy="1619278"/>
            </a:xfrm>
            <a:prstGeom prst="rect">
              <a:avLst/>
            </a:prstGeom>
          </p:spPr>
        </p:pic>
        <p:pic>
          <p:nvPicPr>
            <p:cNvPr id="84" name="Рисунок 83">
              <a:extLst>
                <a:ext uri="{FF2B5EF4-FFF2-40B4-BE49-F238E27FC236}">
                  <a16:creationId xmlns:a16="http://schemas.microsoft.com/office/drawing/2014/main" id="{4CDE7BA8-193E-279F-7EB5-B2E53CF1E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3486848" y="8686760"/>
              <a:ext cx="2574461" cy="1688998"/>
            </a:xfrm>
            <a:prstGeom prst="rect">
              <a:avLst/>
            </a:prstGeom>
          </p:spPr>
        </p:pic>
        <p:pic>
          <p:nvPicPr>
            <p:cNvPr id="85" name="Рисунок 84">
              <a:extLst>
                <a:ext uri="{FF2B5EF4-FFF2-40B4-BE49-F238E27FC236}">
                  <a16:creationId xmlns:a16="http://schemas.microsoft.com/office/drawing/2014/main" id="{0D91D5BF-3BB2-8D19-4CAD-FD4DD8F3A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6098844" y="8686759"/>
              <a:ext cx="2521255" cy="1688997"/>
            </a:xfrm>
            <a:prstGeom prst="rect">
              <a:avLst/>
            </a:prstGeom>
          </p:spPr>
        </p:pic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BA0C4EA0-4EBD-0C2F-0CFA-2854C22EC4BC}"/>
              </a:ext>
            </a:extLst>
          </p:cNvPr>
          <p:cNvSpPr txBox="1"/>
          <p:nvPr/>
        </p:nvSpPr>
        <p:spPr>
          <a:xfrm>
            <a:off x="10800203" y="8810613"/>
            <a:ext cx="24685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Эксперимента</a:t>
            </a:r>
          </a:p>
          <a:p>
            <a:pPr algn="just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Валидация и отбор скважин с аномальными кривыми продуктивности</a:t>
            </a:r>
          </a:p>
          <a:p>
            <a:pPr algn="just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 Подготовка секторных моделей для целевых скважин в симуляторе</a:t>
            </a:r>
          </a:p>
          <a:p>
            <a:pPr algn="just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Воспроизведение режима работы скважины в соответствии с ГДИ (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rate-control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для скважины, вычисление  расчётного забойного давления</a:t>
            </a:r>
          </a:p>
          <a:p>
            <a:pPr algn="just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Анализ результатов, выводы о применимости симулятора для скважин месторождения Х.</a:t>
            </a:r>
          </a:p>
        </p:txBody>
      </p:sp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21661263-C797-BF85-F0B9-DC3D17624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815" y="11777186"/>
            <a:ext cx="652293" cy="288333"/>
          </a:xfrm>
          <a:prstGeom prst="rect">
            <a:avLst/>
          </a:prstGeom>
        </p:spPr>
      </p:pic>
      <p:sp>
        <p:nvSpPr>
          <p:cNvPr id="89" name="Подзаголовок 2">
            <a:extLst>
              <a:ext uri="{FF2B5EF4-FFF2-40B4-BE49-F238E27FC236}">
                <a16:creationId xmlns:a16="http://schemas.microsoft.com/office/drawing/2014/main" id="{C5112FA7-00DE-9CF3-63F3-CD812233F5B6}"/>
              </a:ext>
            </a:extLst>
          </p:cNvPr>
          <p:cNvSpPr txBox="1">
            <a:spLocks/>
          </p:cNvSpPr>
          <p:nvPr/>
        </p:nvSpPr>
        <p:spPr>
          <a:xfrm>
            <a:off x="989387" y="12335920"/>
            <a:ext cx="3147306" cy="374793"/>
          </a:xfrm>
          <a:prstGeom prst="rect">
            <a:avLst/>
          </a:prstGeom>
        </p:spPr>
        <p:txBody>
          <a:bodyPr vert="horz" lIns="104306" tIns="52153" rIns="104306" bIns="52153" rtlCol="0">
            <a:normAutofit fontScale="92500"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Блок-схема алгоритма (ИКР)</a:t>
            </a:r>
          </a:p>
        </p:txBody>
      </p:sp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F621AE6C-07A4-4C5B-9950-9813D69A274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89" y="12852081"/>
            <a:ext cx="3818904" cy="5401124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C0E6525B-3275-E62F-1DCA-32BFF8A5F515}"/>
              </a:ext>
            </a:extLst>
          </p:cNvPr>
          <p:cNvSpPr txBox="1"/>
          <p:nvPr/>
        </p:nvSpPr>
        <p:spPr>
          <a:xfrm>
            <a:off x="4136693" y="12710713"/>
            <a:ext cx="43309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Плюсы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Падение продуктивности вследствие образования гидрата</a:t>
            </a:r>
          </a:p>
          <a:p>
            <a:pPr marL="285750" indent="-285750">
              <a:buFontTx/>
              <a:buChar char="-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 потребности реализовывать численную схему для тепломассопереноса</a:t>
            </a:r>
          </a:p>
          <a:p>
            <a:endParaRPr lang="ru-RU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Tx/>
              <a:buChar char="-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Завершение расчетного шага без влияния выпадения гидрата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влияние на продуктивность на следующем шаге</a:t>
            </a:r>
          </a:p>
          <a:p>
            <a:pPr marL="342900" indent="-342900">
              <a:buFontTx/>
              <a:buChar char="-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промежуточных моделей</a:t>
            </a:r>
          </a:p>
          <a:p>
            <a:pPr marL="342900" indent="-342900">
              <a:buFontTx/>
              <a:buChar char="-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Влияние порядка обхода блоков (перенос не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кольматировавшегося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гидрата в соседние блоки)</a:t>
            </a:r>
          </a:p>
          <a:p>
            <a:pPr marL="342900" indent="-342900">
              <a:buFontTx/>
              <a:buChar char="-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 учета падения минерализации связанной воды</a:t>
            </a:r>
          </a:p>
        </p:txBody>
      </p:sp>
      <p:pic>
        <p:nvPicPr>
          <p:cNvPr id="92" name="Рисунок 91">
            <a:extLst>
              <a:ext uri="{FF2B5EF4-FFF2-40B4-BE49-F238E27FC236}">
                <a16:creationId xmlns:a16="http://schemas.microsoft.com/office/drawing/2014/main" id="{6B7786AC-AE5C-037F-DE2E-16A2D6A91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086" y="23031521"/>
            <a:ext cx="652293" cy="288333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065D1B04-0052-B476-1F64-D41AF05718DD}"/>
              </a:ext>
            </a:extLst>
          </p:cNvPr>
          <p:cNvSpPr txBox="1"/>
          <p:nvPr/>
        </p:nvSpPr>
        <p:spPr>
          <a:xfrm>
            <a:off x="317789" y="18475782"/>
            <a:ext cx="99401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численного решения уравнения сохранения энергии используем метод контрольных объёмов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finite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FVM). Пространственная область разбивается на непересекающееся семейства контрольных объёмов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EF4985E-EA67-989D-3AB5-6A13AFDF0214}"/>
              </a:ext>
            </a:extLst>
          </p:cNvPr>
          <p:cNvSpPr txBox="1"/>
          <p:nvPr/>
        </p:nvSpPr>
        <p:spPr>
          <a:xfrm>
            <a:off x="271694" y="19399112"/>
            <a:ext cx="1042011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Условия решения краевой задачи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Моделируемая область ограничивается радиусом контура питания в 1000 метров.</a:t>
            </a:r>
          </a:p>
          <a:p>
            <a:pPr marL="342900" indent="-34290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No-flow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границы у контура питания с нулевым градиентом давления.</a:t>
            </a:r>
          </a:p>
          <a:p>
            <a:pPr marL="342900" indent="-34290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учитывается интерференция между скважинами.</a:t>
            </a:r>
          </a:p>
          <a:p>
            <a:pPr marL="342900" indent="-34290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Заданы поля пористости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проницаемости.</a:t>
            </a:r>
          </a:p>
          <a:p>
            <a:pPr marL="342900" indent="-34290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Задана начальное давление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температура.</a:t>
            </a:r>
          </a:p>
          <a:p>
            <a:pPr marL="342900" indent="-34290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PVT-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свойства пластовых флюидов.</a:t>
            </a:r>
          </a:p>
          <a:p>
            <a:pPr marL="342900" indent="-34290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Известно начальное насыщение коллектора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гидратов нет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Принимается допущение 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несжимаемости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флюидов и газового гидрата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Принимаются однонаправленные фазовые переходы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Sg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обратный произвольный переход не рассматривается (нет диссоциации)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Сетка стационарная прямоугольная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Известна кривая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гидратообразования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 газа и воды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 центров кристаллизации в виде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парафинов или иных примесей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Подзаголовок 2">
            <a:extLst>
              <a:ext uri="{FF2B5EF4-FFF2-40B4-BE49-F238E27FC236}">
                <a16:creationId xmlns:a16="http://schemas.microsoft.com/office/drawing/2014/main" id="{DD4E7E6F-DD8A-FDF3-AB1A-C6D0B32F19DF}"/>
              </a:ext>
            </a:extLst>
          </p:cNvPr>
          <p:cNvSpPr txBox="1">
            <a:spLocks/>
          </p:cNvSpPr>
          <p:nvPr/>
        </p:nvSpPr>
        <p:spPr>
          <a:xfrm>
            <a:off x="14092356" y="12368280"/>
            <a:ext cx="5182233" cy="428411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аккумуляции гидрата коллектором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F0F6E63-BAFF-6139-A0B1-D0ACF16B6DEA}"/>
                  </a:ext>
                </a:extLst>
              </p:cNvPr>
              <p:cNvSpPr txBox="1"/>
              <p:nvPr/>
            </p:nvSpPr>
            <p:spPr>
              <a:xfrm>
                <a:off x="11780775" y="12875068"/>
                <a:ext cx="10359058" cy="1061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Делая допущение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что обратные фазовые переходы не происходят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можно записать что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  <m:t>Γ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зависит от скорости образования газового гидрата. Введя скалярную величину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ru-RU" sz="16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</m:d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как скорость образования гидрата: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F0F6E63-BAFF-6139-A0B1-D0ACF16B6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0775" y="12875068"/>
                <a:ext cx="10359058" cy="1061829"/>
              </a:xfrm>
              <a:prstGeom prst="rect">
                <a:avLst/>
              </a:prstGeom>
              <a:blipFill>
                <a:blip r:embed="rId20"/>
                <a:stretch>
                  <a:fillRect l="-353" t="-17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A53B0E70-68BA-A498-9BF2-C4F00DC05894}"/>
                  </a:ext>
                </a:extLst>
              </p:cNvPr>
              <p:cNvSpPr txBox="1"/>
              <p:nvPr/>
            </p:nvSpPr>
            <p:spPr>
              <a:xfrm>
                <a:off x="12740922" y="13624974"/>
                <a:ext cx="5346550" cy="497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ymbol" panose="05050102010706020507" pitchFamily="18" charset="2"/>
                            </a:rPr>
                            <m:t>𝛼</m:t>
                          </m:r>
                        </m:sub>
                      </m:sSub>
                      <m:r>
                        <a:rPr lang="ru-RU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ymbol" panose="05050102010706020507" pitchFamily="18" charset="2"/>
                            </a:rPr>
                            <m:t>𝛼</m:t>
                          </m:r>
                        </m:sub>
                      </m:sSub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2400" b="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ru-RU" sz="2400" b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где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∈{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𝑔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A53B0E70-68BA-A498-9BF2-C4F00DC05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0922" y="13624974"/>
                <a:ext cx="5346550" cy="497893"/>
              </a:xfrm>
              <a:prstGeom prst="rect">
                <a:avLst/>
              </a:prstGeom>
              <a:blipFill>
                <a:blip r:embed="rId21"/>
                <a:stretch>
                  <a:fillRect b="-85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E0B91EE-DEFB-283E-A734-0003A3062250}"/>
                  </a:ext>
                </a:extLst>
              </p:cNvPr>
              <p:cNvSpPr txBox="1"/>
              <p:nvPr/>
            </p:nvSpPr>
            <p:spPr>
              <a:xfrm>
                <a:off x="10513837" y="14070997"/>
                <a:ext cx="975210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При этом для газа и воды стехиометрический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должен быть отрицательным</a:t>
                </a:r>
                <a:r>
                  <a:rPr 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а для гидрата положительным</a:t>
                </a:r>
                <a:r>
                  <a:rPr 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тогда</a:t>
                </a:r>
                <a:r>
                  <a:rPr 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E0B91EE-DEFB-283E-A734-0003A3062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3837" y="14070997"/>
                <a:ext cx="9752106" cy="584775"/>
              </a:xfrm>
              <a:prstGeom prst="rect">
                <a:avLst/>
              </a:prstGeom>
              <a:blipFill>
                <a:blip r:embed="rId22"/>
                <a:stretch>
                  <a:fillRect l="-375" t="-3125" r="-438" b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13C7C33-81B5-395C-55CD-D425544B1C6F}"/>
                  </a:ext>
                </a:extLst>
              </p:cNvPr>
              <p:cNvSpPr txBox="1"/>
              <p:nvPr/>
            </p:nvSpPr>
            <p:spPr>
              <a:xfrm>
                <a:off x="10743710" y="17231535"/>
                <a:ext cx="10781743" cy="8510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Здесь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плотности фаз,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фильтрационные скорости,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скорость образования гидрата,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𝜈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стехиометрические коэффициенты переноса массы (могут быть вычислены на </a:t>
                </a: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снове уравнения состояния</a:t>
                </a: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16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Пенга</a:t>
                </a: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-Робинсона) или взяты экспериментальные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</p:txBody>
          </p:sp>
        </mc:Choice>
        <mc:Fallback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13C7C33-81B5-395C-55CD-D425544B1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3710" y="17231535"/>
                <a:ext cx="10781743" cy="851002"/>
              </a:xfrm>
              <a:prstGeom prst="rect">
                <a:avLst/>
              </a:prstGeom>
              <a:blipFill>
                <a:blip r:embed="rId23"/>
                <a:stretch>
                  <a:fillRect l="-283" t="-2158" b="-86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" name="Группа 103">
            <a:extLst>
              <a:ext uri="{FF2B5EF4-FFF2-40B4-BE49-F238E27FC236}">
                <a16:creationId xmlns:a16="http://schemas.microsoft.com/office/drawing/2014/main" id="{D2CC63CD-F802-66D0-C061-BD16592D3079}"/>
              </a:ext>
            </a:extLst>
          </p:cNvPr>
          <p:cNvGrpSpPr/>
          <p:nvPr/>
        </p:nvGrpSpPr>
        <p:grpSpPr>
          <a:xfrm>
            <a:off x="14596349" y="14891185"/>
            <a:ext cx="6500610" cy="2257974"/>
            <a:chOff x="14596349" y="14891185"/>
            <a:chExt cx="6500610" cy="2257974"/>
          </a:xfrm>
        </p:grpSpPr>
        <p:pic>
          <p:nvPicPr>
            <p:cNvPr id="102" name="Рисунок 101" descr="Изображение выглядит как текст, Шрифт, снимок экрана, линия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84A83A7E-2707-8BC7-CA22-74526E115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4596349" y="14891185"/>
              <a:ext cx="6496018" cy="2257974"/>
            </a:xfrm>
            <a:prstGeom prst="rect">
              <a:avLst/>
            </a:prstGeom>
          </p:spPr>
        </p:pic>
        <p:sp>
          <p:nvSpPr>
            <p:cNvPr id="103" name="Прямоугольник 102">
              <a:extLst>
                <a:ext uri="{FF2B5EF4-FFF2-40B4-BE49-F238E27FC236}">
                  <a16:creationId xmlns:a16="http://schemas.microsoft.com/office/drawing/2014/main" id="{660AEE45-B660-3184-1FD5-71D9B6EE1F68}"/>
                </a:ext>
              </a:extLst>
            </p:cNvPr>
            <p:cNvSpPr/>
            <p:nvPr/>
          </p:nvSpPr>
          <p:spPr>
            <a:xfrm>
              <a:off x="19964722" y="15548189"/>
              <a:ext cx="1132237" cy="7709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5" name="Группа 104">
            <a:extLst>
              <a:ext uri="{FF2B5EF4-FFF2-40B4-BE49-F238E27FC236}">
                <a16:creationId xmlns:a16="http://schemas.microsoft.com/office/drawing/2014/main" id="{BE19D29D-D207-4118-D1DA-2686DD8455FE}"/>
              </a:ext>
            </a:extLst>
          </p:cNvPr>
          <p:cNvGrpSpPr/>
          <p:nvPr/>
        </p:nvGrpSpPr>
        <p:grpSpPr>
          <a:xfrm>
            <a:off x="9561341" y="14789554"/>
            <a:ext cx="5313928" cy="2290916"/>
            <a:chOff x="1056315" y="2613545"/>
            <a:chExt cx="6171215" cy="229091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BBB681E6-F084-A08C-1961-66C7B618A7D9}"/>
                    </a:ext>
                  </a:extLst>
                </p:cNvPr>
                <p:cNvSpPr txBox="1"/>
                <p:nvPr/>
              </p:nvSpPr>
              <p:spPr>
                <a:xfrm>
                  <a:off x="1809350" y="2613545"/>
                  <a:ext cx="5346550" cy="6190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e>
                        </m:d>
                        <m:r>
                          <a:rPr lang="ru-RU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ru-RU" i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ru-RU" i="0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ru-RU" b="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e>
                        </m:d>
                        <m:r>
                          <a:rPr lang="ru-RU" b="0" i="0"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ru-RU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b="0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ru-RU" b="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sSub>
                          <m:sSubPr>
                            <m:ctrlPr>
                              <a:rPr lang="ru-RU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b="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b="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BBB681E6-F084-A08C-1961-66C7B618A7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9350" y="2613545"/>
                  <a:ext cx="5346550" cy="619016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663171AD-BC79-3DD2-038C-9379395E7144}"/>
                    </a:ext>
                  </a:extLst>
                </p:cNvPr>
                <p:cNvSpPr txBox="1"/>
                <p:nvPr/>
              </p:nvSpPr>
              <p:spPr>
                <a:xfrm>
                  <a:off x="1880980" y="3493109"/>
                  <a:ext cx="5346550" cy="6190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  <m:r>
                          <a:rPr lang="ru-RU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ru-RU" i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ru-RU" i="0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ru-RU" b="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  <m:r>
                          <a:rPr lang="ru-RU" b="0" i="0"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ru-RU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b="0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ru-RU" b="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sSub>
                          <m:sSubPr>
                            <m:ctrlPr>
                              <a:rPr lang="ru-RU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b="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b="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663171AD-BC79-3DD2-038C-9379395E71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0980" y="3493109"/>
                  <a:ext cx="5346550" cy="619016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0BF3146F-A13D-FE85-38DA-7178BE2BA879}"/>
                    </a:ext>
                  </a:extLst>
                </p:cNvPr>
                <p:cNvSpPr txBox="1"/>
                <p:nvPr/>
              </p:nvSpPr>
              <p:spPr>
                <a:xfrm>
                  <a:off x="1056315" y="4266290"/>
                  <a:ext cx="5346550" cy="6190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  <m:r>
                          <a:rPr lang="ru-RU" i="0">
                            <a:latin typeface="Cambria Math" panose="02040503050406030204" pitchFamily="18" charset="0"/>
                          </a:rPr>
                          <m:t>=+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0BF3146F-A13D-FE85-38DA-7178BE2BA8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315" y="4266290"/>
                  <a:ext cx="5346550" cy="619016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9" name="Левая фигурная скобка 108">
              <a:extLst>
                <a:ext uri="{FF2B5EF4-FFF2-40B4-BE49-F238E27FC236}">
                  <a16:creationId xmlns:a16="http://schemas.microsoft.com/office/drawing/2014/main" id="{210A1CA2-5289-1B42-4768-44DFD1EC2731}"/>
                </a:ext>
              </a:extLst>
            </p:cNvPr>
            <p:cNvSpPr/>
            <p:nvPr/>
          </p:nvSpPr>
          <p:spPr>
            <a:xfrm>
              <a:off x="1784502" y="2683066"/>
              <a:ext cx="586408" cy="2221395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11AA0C34-9FCA-B2B5-D521-8EB5C7910BD4}"/>
              </a:ext>
            </a:extLst>
          </p:cNvPr>
          <p:cNvSpPr txBox="1"/>
          <p:nvPr/>
        </p:nvSpPr>
        <p:spPr>
          <a:xfrm>
            <a:off x="10814307" y="18403685"/>
            <a:ext cx="102780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Учитывая, что рассматриваемый процесс образования гидратов в аномальных пластах зависит не только от давления, но и от температуры, необходимо также учитывать закон сохранения энергии: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1" name="Таблица 110">
                <a:extLst>
                  <a:ext uri="{FF2B5EF4-FFF2-40B4-BE49-F238E27FC236}">
                    <a16:creationId xmlns:a16="http://schemas.microsoft.com/office/drawing/2014/main" id="{928D52CF-AD24-C70E-1759-D5909E07E5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0011373"/>
                  </p:ext>
                </p:extLst>
              </p:nvPr>
            </p:nvGraphicFramePr>
            <p:xfrm>
              <a:off x="10814307" y="19555830"/>
              <a:ext cx="8881325" cy="1290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881325">
                      <a:extLst>
                        <a:ext uri="{9D8B030D-6E8A-4147-A177-3AD203B41FA5}">
                          <a16:colId xmlns:a16="http://schemas.microsoft.com/office/drawing/2014/main" val="1606025839"/>
                        </a:ext>
                      </a:extLst>
                    </a:gridCol>
                  </a:tblGrid>
                  <a:tr h="129076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eqArr>
                                  <m:eqArrPr>
                                    <m:ctrlP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eqArrPr>
                                  <m:e>
                                    <m:f>
                                      <m:fPr>
                                        <m:ctrlP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num>
                                      <m:den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den>
                                    </m:f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𝜙</m:t>
                                        </m:r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 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𝜙</m:t>
                                        </m:r>
                                        <m:nary>
                                          <m:naryPr>
                                            <m:chr m:val="∑"/>
                                            <m:limLoc m:val="undOvr"/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∈{</m:t>
                                            </m:r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𝑔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𝑤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h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}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​</m:t>
                                            </m:r>
                                          </m:sup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𝛼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sub>
                                        </m:s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&amp;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∇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d>
                                      <m:dPr>
                                        <m:ctrlP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eff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∇</m:t>
                                        </m:r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nary>
                                          <m:naryPr>
                                            <m:chr m:val="∑"/>
                                            <m:limLoc m:val="undOvr"/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∈{</m:t>
                                            </m:r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𝑔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𝑤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}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​</m:t>
                                            </m:r>
                                          </m:sup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𝜌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𝛼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b="1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𝐮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</m:e>
                                </m:eqArr>
                              </m:oMath>
                            </m:oMathPara>
                          </a14:m>
                          <a:endParaRPr lang="ru-RU" sz="18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9081196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1" name="Таблица 110">
                <a:extLst>
                  <a:ext uri="{FF2B5EF4-FFF2-40B4-BE49-F238E27FC236}">
                    <a16:creationId xmlns:a16="http://schemas.microsoft.com/office/drawing/2014/main" id="{928D52CF-AD24-C70E-1759-D5909E07E5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0011373"/>
                  </p:ext>
                </p:extLst>
              </p:nvPr>
            </p:nvGraphicFramePr>
            <p:xfrm>
              <a:off x="10814307" y="19555830"/>
              <a:ext cx="8881325" cy="1290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881325">
                      <a:extLst>
                        <a:ext uri="{9D8B030D-6E8A-4147-A177-3AD203B41FA5}">
                          <a16:colId xmlns:a16="http://schemas.microsoft.com/office/drawing/2014/main" val="1606025839"/>
                        </a:ext>
                      </a:extLst>
                    </a:gridCol>
                  </a:tblGrid>
                  <a:tr h="129076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081196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F8FF11F-DEB7-CE20-04F5-8DDD665B356A}"/>
                  </a:ext>
                </a:extLst>
              </p:cNvPr>
              <p:cNvSpPr txBox="1"/>
              <p:nvPr/>
            </p:nvSpPr>
            <p:spPr>
              <a:xfrm>
                <a:off x="11072649" y="21579819"/>
                <a:ext cx="934301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Здесь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— плотность и теплоёмкость матрицы,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— теплоёмкости фаз,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eff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— эффективная теплопроводность пористой среды,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— удельные энтальпии фаз,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— удельная скрытая теплота образования гидрата.</a:t>
                </a:r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F8FF11F-DEB7-CE20-04F5-8DDD665B3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2649" y="21579819"/>
                <a:ext cx="9343017" cy="830997"/>
              </a:xfrm>
              <a:prstGeom prst="rect">
                <a:avLst/>
              </a:prstGeom>
              <a:blipFill>
                <a:blip r:embed="rId29"/>
                <a:stretch>
                  <a:fillRect l="-326" t="-2206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Прямая соединительная линия 112">
            <a:extLst>
              <a:ext uri="{FF2B5EF4-FFF2-40B4-BE49-F238E27FC236}">
                <a16:creationId xmlns:a16="http://schemas.microsoft.com/office/drawing/2014/main" id="{F8D93900-8D36-0E80-57C3-9994245C70F8}"/>
              </a:ext>
            </a:extLst>
          </p:cNvPr>
          <p:cNvCxnSpPr>
            <a:cxnSpLocks/>
          </p:cNvCxnSpPr>
          <p:nvPr/>
        </p:nvCxnSpPr>
        <p:spPr>
          <a:xfrm flipH="1">
            <a:off x="13915196" y="20111329"/>
            <a:ext cx="418628" cy="511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645DE43-B4BE-3A2C-05F7-9890D600EF08}"/>
              </a:ext>
            </a:extLst>
          </p:cNvPr>
          <p:cNvSpPr txBox="1"/>
          <p:nvPr/>
        </p:nvSpPr>
        <p:spPr>
          <a:xfrm>
            <a:off x="12304859" y="20649081"/>
            <a:ext cx="2674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Внутренняя энергия фаз в порах</a:t>
            </a:r>
          </a:p>
        </p:txBody>
      </p:sp>
      <p:cxnSp>
        <p:nvCxnSpPr>
          <p:cNvPr id="115" name="Прямая соединительная линия 114">
            <a:extLst>
              <a:ext uri="{FF2B5EF4-FFF2-40B4-BE49-F238E27FC236}">
                <a16:creationId xmlns:a16="http://schemas.microsoft.com/office/drawing/2014/main" id="{BB904FBA-77B1-1613-304E-92447DAD23ED}"/>
              </a:ext>
            </a:extLst>
          </p:cNvPr>
          <p:cNvCxnSpPr>
            <a:cxnSpLocks/>
          </p:cNvCxnSpPr>
          <p:nvPr/>
        </p:nvCxnSpPr>
        <p:spPr>
          <a:xfrm flipH="1">
            <a:off x="17500914" y="20111329"/>
            <a:ext cx="255635" cy="4845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BCBF0E1A-4D9E-C05B-13E4-0DEA308A6739}"/>
              </a:ext>
            </a:extLst>
          </p:cNvPr>
          <p:cNvSpPr txBox="1"/>
          <p:nvPr/>
        </p:nvSpPr>
        <p:spPr>
          <a:xfrm>
            <a:off x="15793965" y="20613851"/>
            <a:ext cx="4170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Конвективный перенос тепла фазами при движении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56D11E4-EDA7-D191-28B2-DBAED4F460E0}"/>
              </a:ext>
            </a:extLst>
          </p:cNvPr>
          <p:cNvSpPr txBox="1"/>
          <p:nvPr/>
        </p:nvSpPr>
        <p:spPr>
          <a:xfrm>
            <a:off x="12499831" y="18102680"/>
            <a:ext cx="6518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Законы сохранения энергии с учетом фазовых переходов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96035DF-E61C-4E1D-09A1-B7FE293A3078}"/>
              </a:ext>
            </a:extLst>
          </p:cNvPr>
          <p:cNvSpPr txBox="1"/>
          <p:nvPr/>
        </p:nvSpPr>
        <p:spPr>
          <a:xfrm>
            <a:off x="4085495" y="17051052"/>
            <a:ext cx="490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(прим. Например </a:t>
            </a:r>
            <a:r>
              <a:rPr lang="ru-RU" sz="1200" dirty="0"/>
              <a:t>Модель Леонтьева Н. Е. для одновременного учета </a:t>
            </a:r>
            <a:r>
              <a:rPr lang="ru-RU" sz="1200" dirty="0" err="1"/>
              <a:t>кольматационных</a:t>
            </a:r>
            <a:r>
              <a:rPr lang="ru-RU" sz="1200" dirty="0"/>
              <a:t> и суффозионных процессов (</a:t>
            </a:r>
            <a:r>
              <a:rPr lang="ru-RU" sz="1200" dirty="0" err="1"/>
              <a:t>т.е</a:t>
            </a:r>
            <a:r>
              <a:rPr lang="ru-RU" sz="1200" dirty="0"/>
              <a:t> осаждения и переноса)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23" name="Рисунок 122">
            <a:extLst>
              <a:ext uri="{FF2B5EF4-FFF2-40B4-BE49-F238E27FC236}">
                <a16:creationId xmlns:a16="http://schemas.microsoft.com/office/drawing/2014/main" id="{B08DC6F5-189D-5B4A-B2A6-5D1AAAE5A633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10" y="24567190"/>
            <a:ext cx="10013057" cy="4844685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82558BC2-FF38-8BC1-1516-4CA2189F64B6}"/>
              </a:ext>
            </a:extLst>
          </p:cNvPr>
          <p:cNvSpPr txBox="1"/>
          <p:nvPr/>
        </p:nvSpPr>
        <p:spPr>
          <a:xfrm>
            <a:off x="387410" y="23992391"/>
            <a:ext cx="13517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С3 программного комплекса для моделирования с учетом образования газовых гидратов</a:t>
            </a:r>
          </a:p>
        </p:txBody>
      </p:sp>
      <p:pic>
        <p:nvPicPr>
          <p:cNvPr id="126" name="Picture 2">
            <a:extLst>
              <a:ext uri="{FF2B5EF4-FFF2-40B4-BE49-F238E27FC236}">
                <a16:creationId xmlns:a16="http://schemas.microsoft.com/office/drawing/2014/main" id="{6B076AA5-FFB9-4BB9-C7E8-544F6706C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9970" y="28694584"/>
            <a:ext cx="4489365" cy="123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FD1FE084-C245-415C-E6C6-B26F39B156E3}"/>
              </a:ext>
            </a:extLst>
          </p:cNvPr>
          <p:cNvSpPr txBox="1"/>
          <p:nvPr/>
        </p:nvSpPr>
        <p:spPr>
          <a:xfrm>
            <a:off x="10882848" y="24317024"/>
            <a:ext cx="9198533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Выполнено численное моделирование скважин месторождения Х </a:t>
            </a:r>
            <a:r>
              <a:rPr lang="en-US" sz="1800" dirty="0"/>
              <a:t>, </a:t>
            </a:r>
            <a:r>
              <a:rPr lang="ru-RU" sz="1800" dirty="0"/>
              <a:t>произведен анализ данных ГДИ</a:t>
            </a:r>
            <a:r>
              <a:rPr lang="en-US" sz="1800" dirty="0"/>
              <a:t>, </a:t>
            </a:r>
            <a:r>
              <a:rPr lang="ru-RU" sz="1800" dirty="0"/>
              <a:t>выявлены аномальные падения продуктивности на высоко депрессионных режимах работы.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Выполнена первая итерация разработки физико-математической модели ( подробнее после публикации статьи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“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Физико-математическая модель тепломассопереноса в газовых пластах с учетом фазовых переходов в газовые гидраты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”</a:t>
            </a:r>
            <a:r>
              <a:rPr lang="ru-RU" sz="1800" dirty="0"/>
              <a:t>)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Выполнено проектирование программного комплекса</a:t>
            </a:r>
            <a:r>
              <a:rPr lang="en-US" sz="1800" dirty="0"/>
              <a:t>, </a:t>
            </a:r>
            <a:r>
              <a:rPr lang="ru-RU" sz="1800" dirty="0"/>
              <a:t>в процессе выполнения реализация.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Разработан план численного эксперимента и верификации результатов.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3915ABC-F7BA-7D6B-D874-30D8D15B9115}"/>
              </a:ext>
            </a:extLst>
          </p:cNvPr>
          <p:cNvSpPr txBox="1"/>
          <p:nvPr/>
        </p:nvSpPr>
        <p:spPr>
          <a:xfrm>
            <a:off x="10902714" y="27648206"/>
            <a:ext cx="102438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spcBef>
                <a:spcPts val="600"/>
              </a:spcBef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исследование, разработка и программная реализация новых метод для моделирования процессов тепломассопереноса в газовых и газоконденсатных пластах является важной и актуальной задачей для развития ТЭК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является необходимым условием для ведения эффективной экономической деятельности.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60DD4EB-5032-0B56-D64C-143BBB15F355}"/>
              </a:ext>
            </a:extLst>
          </p:cNvPr>
          <p:cNvSpPr txBox="1"/>
          <p:nvPr/>
        </p:nvSpPr>
        <p:spPr>
          <a:xfrm>
            <a:off x="10743710" y="23799429"/>
            <a:ext cx="10243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l"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4729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78</TotalTime>
  <Words>944</Words>
  <Application>Microsoft Office PowerPoint</Application>
  <PresentationFormat>Произвольный</PresentationFormat>
  <Paragraphs>76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Cambria Math</vt:lpstr>
      <vt:lpstr>Times New Roman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Alxndr Klbk</dc:creator>
  <cp:lastModifiedBy>Alxndr Klbk</cp:lastModifiedBy>
  <cp:revision>25</cp:revision>
  <dcterms:created xsi:type="dcterms:W3CDTF">2026-05-21T05:14:14Z</dcterms:created>
  <dcterms:modified xsi:type="dcterms:W3CDTF">2026-05-21T06:32:45Z</dcterms:modified>
</cp:coreProperties>
</file>