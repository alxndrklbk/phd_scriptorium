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0" r:id="rId4"/>
    <p:sldId id="261" r:id="rId5"/>
    <p:sldId id="262" r:id="rId6"/>
    <p:sldId id="263" r:id="rId7"/>
    <p:sldId id="27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9" r:id="rId16"/>
    <p:sldId id="271" r:id="rId17"/>
    <p:sldId id="276" r:id="rId18"/>
    <p:sldId id="259" r:id="rId19"/>
    <p:sldId id="277" r:id="rId20"/>
    <p:sldId id="278" r:id="rId21"/>
    <p:sldId id="274" r:id="rId22"/>
    <p:sldId id="275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4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23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81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643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927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276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8853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607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075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415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518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577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804C8C-A16D-40ED-B7C8-20CC6A7D0227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B7048-13AE-42EF-977F-20BE1693D1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726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328" y="391588"/>
            <a:ext cx="1598971" cy="70679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C939E2-E6FD-600D-586E-BBCDCF209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9784" y="3485271"/>
            <a:ext cx="10037285" cy="1392921"/>
          </a:xfrm>
        </p:spPr>
        <p:txBody>
          <a:bodyPr>
            <a:noAutofit/>
          </a:bodyPr>
          <a:lstStyle/>
          <a:p>
            <a:pPr algn="l"/>
            <a:r>
              <a:rPr lang="ru-RU" sz="3800" dirty="0">
                <a:latin typeface="Fira Sans ExtraLight" panose="020B0403050000020004" pitchFamily="34" charset="0"/>
              </a:rPr>
              <a:t>Методика физико-математического моделирования процессов тепломассопереноса в пластах с условиями образования гидратов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A5A6282-6E96-07B7-C20D-2D0ED91FE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9785" y="5347538"/>
            <a:ext cx="9459271" cy="863562"/>
          </a:xfrm>
        </p:spPr>
        <p:txBody>
          <a:bodyPr>
            <a:noAutofit/>
          </a:bodyPr>
          <a:lstStyle/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Колбеко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А.Б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Ганопольский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Р.М.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29D81DCB-18E5-833A-9113-13990706D144}"/>
              </a:ext>
            </a:extLst>
          </p:cNvPr>
          <p:cNvCxnSpPr/>
          <p:nvPr/>
        </p:nvCxnSpPr>
        <p:spPr>
          <a:xfrm>
            <a:off x="1108452" y="5044440"/>
            <a:ext cx="5589528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5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/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/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Актуальность проблема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BEEB70D-F326-5285-61B9-3BD1379EDC90}"/>
              </a:ext>
            </a:extLst>
          </p:cNvPr>
          <p:cNvSpPr txBox="1">
            <a:spLocks/>
          </p:cNvSpPr>
          <p:nvPr/>
        </p:nvSpPr>
        <p:spPr>
          <a:xfrm>
            <a:off x="301124" y="808805"/>
            <a:ext cx="9783667" cy="948430"/>
          </a:xfrm>
          <a:prstGeom prst="rect">
            <a:avLst/>
          </a:prstGeom>
        </p:spPr>
        <p:txBody>
          <a:bodyPr vert="horz" lIns="104306" tIns="52153" rIns="104306" bIns="52153" rtlCol="0">
            <a:normAutofit fontScale="925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dirty="0"/>
              <a:t>Вовлечение в разработку залежей с аномальными термобарическими условиями – актуальный вызов для нефтегазовой отрасли.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C659C20-D0AE-75CF-2D85-1A52497962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495" y="1617511"/>
            <a:ext cx="5450872" cy="40494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C3AA89-6608-DFE6-34D3-9D703EC8C04E}"/>
              </a:ext>
            </a:extLst>
          </p:cNvPr>
          <p:cNvSpPr txBox="1"/>
          <p:nvPr/>
        </p:nvSpPr>
        <p:spPr>
          <a:xfrm>
            <a:off x="1418597" y="5609099"/>
            <a:ext cx="9354806" cy="568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Укрупненная группировка упоминаемых в публикациях месторождений на стратиграфической шкале (на основе материалов всероссийского научно-исследовательского геологического института им. А.П. Карпинского)</a:t>
            </a:r>
          </a:p>
        </p:txBody>
      </p:sp>
    </p:spTree>
    <p:extLst>
      <p:ext uri="{BB962C8B-B14F-4D97-AF65-F5344CB8AC3E}">
        <p14:creationId xmlns:p14="http://schemas.microsoft.com/office/powerpoint/2010/main" val="3683339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0836B-6C01-A0F5-285F-2A2F33E44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2CB7163-4614-03DF-DC26-3FF2F108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6A43A9A-170F-3234-5CF1-DB0218E3E15F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0C02EEEB-960A-05BD-C320-DBD3EA188F99}"/>
              </a:ext>
            </a:extLst>
          </p:cNvPr>
          <p:cNvSpPr txBox="1">
            <a:spLocks/>
          </p:cNvSpPr>
          <p:nvPr/>
        </p:nvSpPr>
        <p:spPr>
          <a:xfrm>
            <a:off x="301124" y="131506"/>
            <a:ext cx="7325803" cy="2328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Проблема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4E9F5C79-6820-9B18-44B9-8012B37BDA07}"/>
              </a:ext>
            </a:extLst>
          </p:cNvPr>
          <p:cNvSpPr txBox="1">
            <a:spLocks/>
          </p:cNvSpPr>
          <p:nvPr/>
        </p:nvSpPr>
        <p:spPr>
          <a:xfrm>
            <a:off x="150322" y="910678"/>
            <a:ext cx="10201688" cy="503664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1800" b="1" dirty="0"/>
              <a:t>Традиционные методы моделирования разработки</a:t>
            </a:r>
            <a:r>
              <a:rPr lang="en-US" sz="1800" b="1" dirty="0"/>
              <a:t>:</a:t>
            </a:r>
            <a:endParaRPr lang="ru-RU" sz="1800" b="1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Black Oil)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Гидродинамическое моделирование (</a:t>
            </a:r>
            <a:r>
              <a:rPr lang="en-US" sz="1800" dirty="0"/>
              <a:t>Compositional model)</a:t>
            </a:r>
            <a:endParaRPr lang="ru-RU" sz="1800" dirty="0"/>
          </a:p>
          <a:p>
            <a:pPr marL="342900" indent="-342900" algn="just">
              <a:buFontTx/>
              <a:buChar char="-"/>
            </a:pPr>
            <a:r>
              <a:rPr lang="ru-RU" sz="1800" dirty="0"/>
              <a:t>Прокси-модели (</a:t>
            </a:r>
            <a:r>
              <a:rPr lang="en-US" sz="1800" dirty="0"/>
              <a:t>material balance, ARCHER</a:t>
            </a:r>
            <a:r>
              <a:rPr lang="ru-RU" sz="1800" dirty="0"/>
              <a:t>)</a:t>
            </a:r>
          </a:p>
          <a:p>
            <a:pPr marL="342900" indent="-342900" algn="just">
              <a:buFontTx/>
              <a:buChar char="-"/>
            </a:pPr>
            <a:r>
              <a:rPr lang="ru-RU" sz="1800" dirty="0"/>
              <a:t>Модели на основе линий тока </a:t>
            </a:r>
            <a:r>
              <a:rPr lang="en-US" sz="1800" dirty="0"/>
              <a:t>(streamline-based simulators)</a:t>
            </a:r>
            <a:endParaRPr lang="ru-RU" sz="1800" dirty="0"/>
          </a:p>
          <a:p>
            <a:pPr algn="just"/>
            <a:endParaRPr lang="en-US" sz="1800" dirty="0"/>
          </a:p>
          <a:p>
            <a:pPr algn="just"/>
            <a:r>
              <a:rPr lang="ru-RU" sz="1800" b="1" dirty="0"/>
              <a:t>Прикладная проблема</a:t>
            </a:r>
            <a:r>
              <a:rPr lang="en-US" sz="1800" dirty="0"/>
              <a:t>: </a:t>
            </a:r>
            <a:r>
              <a:rPr lang="ru-RU" sz="1800" dirty="0"/>
              <a:t>эксплуатация скважин на месторождениях с аномальными пластовыми давлениями и температурами сопровождается вынужденными остановки и проведением ГТМ для ликвидации последствий</a:t>
            </a:r>
            <a:r>
              <a:rPr lang="en-US" sz="1800" dirty="0"/>
              <a:t>, </a:t>
            </a:r>
            <a:r>
              <a:rPr lang="ru-RU" sz="1800" dirty="0"/>
              <a:t>что снижает рентабельность и вызывает дополнительные операционные расходы.</a:t>
            </a:r>
          </a:p>
          <a:p>
            <a:pPr algn="just"/>
            <a:r>
              <a:rPr lang="ru-RU" sz="1800" b="1" dirty="0"/>
              <a:t>Научная проблема</a:t>
            </a:r>
            <a:r>
              <a:rPr lang="en-US" sz="1800" b="1" dirty="0"/>
              <a:t>:</a:t>
            </a:r>
            <a:r>
              <a:rPr lang="ru-RU" sz="1800" b="1" dirty="0"/>
              <a:t> </a:t>
            </a:r>
            <a:r>
              <a:rPr lang="ru-RU" sz="1800" dirty="0"/>
              <a:t>Существующие физико-математических</a:t>
            </a:r>
            <a:r>
              <a:rPr lang="ru-RU" sz="1800" b="1" dirty="0"/>
              <a:t> </a:t>
            </a:r>
            <a:r>
              <a:rPr lang="ru-RU" sz="1800" dirty="0"/>
              <a:t>модели</a:t>
            </a:r>
            <a:r>
              <a:rPr lang="en-US" sz="1800" dirty="0"/>
              <a:t>, </a:t>
            </a:r>
            <a:r>
              <a:rPr lang="ru-RU" sz="1800" dirty="0"/>
              <a:t>алгоритмы</a:t>
            </a:r>
            <a:r>
              <a:rPr lang="en-US" sz="1800" dirty="0"/>
              <a:t>, </a:t>
            </a:r>
            <a:r>
              <a:rPr lang="ru-RU" sz="1800" dirty="0"/>
              <a:t>программные комплексы не в полной мере позволяют достоверно моделировать процессы тепломассопереноса в газовых и газоконденсатных пластах с аномальными термобарическими условиями с учетом падения ФЭС призабойной зоны вследствие образования газовых гидратов.</a:t>
            </a:r>
          </a:p>
        </p:txBody>
      </p:sp>
    </p:spTree>
    <p:extLst>
      <p:ext uri="{BB962C8B-B14F-4D97-AF65-F5344CB8AC3E}">
        <p14:creationId xmlns:p14="http://schemas.microsoft.com/office/powerpoint/2010/main" val="2139935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037E0-E0A8-7CD8-8381-057E63B8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AF95DF-DE31-F551-6406-11F6A7766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CB859BA6-A153-4967-D64D-9855C3E11E0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2555F9-D886-804F-F396-559923D179E4}"/>
              </a:ext>
            </a:extLst>
          </p:cNvPr>
          <p:cNvSpPr txBox="1">
            <a:spLocks/>
          </p:cNvSpPr>
          <p:nvPr/>
        </p:nvSpPr>
        <p:spPr>
          <a:xfrm>
            <a:off x="22816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Цели и задачи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9D9270E3-86D7-E209-47C4-E6B91D1E8B9A}"/>
              </a:ext>
            </a:extLst>
          </p:cNvPr>
          <p:cNvSpPr txBox="1">
            <a:spLocks/>
          </p:cNvSpPr>
          <p:nvPr/>
        </p:nvSpPr>
        <p:spPr>
          <a:xfrm>
            <a:off x="395785" y="733328"/>
            <a:ext cx="10693400" cy="2979251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457200" algn="l">
              <a:spcBef>
                <a:spcPts val="600"/>
              </a:spcBef>
            </a:pPr>
            <a:r>
              <a:rPr lang="ru-RU" sz="1800" b="1" dirty="0"/>
              <a:t>Цель</a:t>
            </a:r>
            <a:r>
              <a:rPr lang="en-US" sz="1800" dirty="0"/>
              <a:t>: </a:t>
            </a:r>
            <a:r>
              <a:rPr lang="ru-RU" sz="1800" dirty="0"/>
              <a:t>Исследовать, разработать и </a:t>
            </a:r>
            <a:r>
              <a:rPr lang="ru-RU" sz="1800" dirty="0" err="1"/>
              <a:t>программно</a:t>
            </a:r>
            <a:r>
              <a:rPr lang="ru-RU" sz="1800" dirty="0"/>
              <a:t> реализовать метод для моделирования процессов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</a:t>
            </a:r>
            <a:r>
              <a:rPr lang="en-US" sz="1800" dirty="0"/>
              <a:t>.</a:t>
            </a:r>
          </a:p>
          <a:p>
            <a:pPr indent="457200" algn="l">
              <a:spcBef>
                <a:spcPts val="600"/>
              </a:spcBef>
            </a:pPr>
            <a:r>
              <a:rPr lang="ru-RU" sz="1800" b="1" dirty="0"/>
              <a:t>Задачи</a:t>
            </a:r>
            <a:r>
              <a:rPr lang="en-US" sz="1800" dirty="0"/>
              <a:t>:</a:t>
            </a:r>
            <a:endParaRPr lang="ru-RU" sz="1800" dirty="0"/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Проведение численных экспериментов по моделированию залежей с аномальными термобарическими условиями с применением существующих программных комплексов.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метода физико-математического моделирования фильтрации с учетом образования газовых гидратов в призабойной зоне скважины.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Разработка программного комплекса для численного решение предлагаемой физико-математической модели.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Верификация разработанного программного комплекса путем моделирования динамики работы скважин и сопоставления с фактическими профилями добычи, существующими программными комплексами.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4C124EE-145B-36E0-D9C7-5D70587445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722" y="4334204"/>
            <a:ext cx="6408606" cy="1769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5828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E98F-86CD-A05C-521F-58FE5B28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960608C-4344-DEA4-FAEE-36CCD9073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B1F3866-3787-32DC-16EB-6E4D121A228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87D75E4-59F2-883D-D271-F385C2058217}"/>
              </a:ext>
            </a:extLst>
          </p:cNvPr>
          <p:cNvSpPr txBox="1">
            <a:spLocks/>
          </p:cNvSpPr>
          <p:nvPr/>
        </p:nvSpPr>
        <p:spPr>
          <a:xfrm>
            <a:off x="42371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Положения на защиту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9C85D-B1F2-D53F-B510-1566C8C44B6A}"/>
              </a:ext>
            </a:extLst>
          </p:cNvPr>
          <p:cNvSpPr txBox="1"/>
          <p:nvPr/>
        </p:nvSpPr>
        <p:spPr>
          <a:xfrm>
            <a:off x="214516" y="1135348"/>
            <a:ext cx="1122913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AutoNum type="arabicParenR"/>
            </a:pPr>
            <a:r>
              <a:rPr lang="ru-RU" sz="1800" dirty="0"/>
              <a:t>Метод математического моделирования процесса тепломассопереноса в газовых и газоконденсатных пластах с аномальными термобарическими условиями с учетом падения ФЭС призабойной зоны за счет образования газовых гидратов.</a:t>
            </a:r>
          </a:p>
          <a:p>
            <a:pPr marL="342900" indent="-342900" algn="just">
              <a:buAutoNum type="arabicParenR"/>
            </a:pPr>
            <a:endParaRPr lang="ru-RU" sz="1800" dirty="0"/>
          </a:p>
          <a:p>
            <a:pPr algn="just"/>
            <a:r>
              <a:rPr lang="ru-RU" sz="1800" dirty="0"/>
              <a:t>2) Метод численного решения системы описывающей процесс фильтрации пластового флюида с учетом вычисления фазового равновесия (совместно с дополнительными внутренними итерациями для шага решения системы ДУ с ЧП по определению термодинамического состояния пластового флюида и образования газового гидрата). 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3) Метод математического моделирования изменения минерализации в призабойной зоне</a:t>
            </a:r>
            <a:r>
              <a:rPr lang="en-US" sz="1800" dirty="0"/>
              <a:t>, </a:t>
            </a:r>
            <a:r>
              <a:rPr lang="ru-RU" sz="1800" dirty="0"/>
              <a:t> влияние на термодинамическое равновесие пластового флюида.</a:t>
            </a:r>
          </a:p>
          <a:p>
            <a:pPr algn="just"/>
            <a:endParaRPr lang="ru-RU" sz="1800" dirty="0"/>
          </a:p>
          <a:p>
            <a:pPr algn="just"/>
            <a:r>
              <a:rPr lang="ru-RU" sz="1800" dirty="0"/>
              <a:t>4) Программный комплекс, реализующий предлагаемые методы </a:t>
            </a:r>
            <a:r>
              <a:rPr lang="ru-RU" sz="1800" dirty="0" err="1"/>
              <a:t>дл</a:t>
            </a:r>
            <a:r>
              <a:rPr lang="ru-RU" sz="1800" dirty="0"/>
              <a:t> моделирования процессов тепломассопереноса с учетом фазового перехода </a:t>
            </a:r>
            <a:r>
              <a:rPr lang="ru-RU" sz="1800" dirty="0" err="1"/>
              <a:t>пластовыъ</a:t>
            </a:r>
            <a:r>
              <a:rPr lang="ru-RU" sz="1800" dirty="0"/>
              <a:t> флюидов в газовый гидрат</a:t>
            </a:r>
            <a:r>
              <a:rPr lang="en-US" sz="1800" dirty="0"/>
              <a:t>, </a:t>
            </a:r>
            <a:r>
              <a:rPr lang="ru-RU" sz="1800" dirty="0"/>
              <a:t>верификация результатов моделирования на прогноз с историческими данными работы скважин месторождения Х.</a:t>
            </a:r>
          </a:p>
        </p:txBody>
      </p:sp>
    </p:spTree>
    <p:extLst>
      <p:ext uri="{BB962C8B-B14F-4D97-AF65-F5344CB8AC3E}">
        <p14:creationId xmlns:p14="http://schemas.microsoft.com/office/powerpoint/2010/main" val="4270048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9FBDE-B27C-3D81-E0C3-58BBBD1B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5BA9476-7F56-1CF5-3CA6-6E95E63C5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FB924B9A-C3B7-C081-B31E-9A265479E62C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958401F-179E-0BC4-178A-C39A98A4CEE0}"/>
              </a:ext>
            </a:extLst>
          </p:cNvPr>
          <p:cNvSpPr txBox="1">
            <a:spLocks/>
          </p:cNvSpPr>
          <p:nvPr/>
        </p:nvSpPr>
        <p:spPr>
          <a:xfrm>
            <a:off x="139455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Обзор существующих симуляторов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1DAED5-88E8-8999-B2F0-BCFE16C424ED}"/>
              </a:ext>
            </a:extLst>
          </p:cNvPr>
          <p:cNvSpPr txBox="1"/>
          <p:nvPr/>
        </p:nvSpPr>
        <p:spPr>
          <a:xfrm>
            <a:off x="724602" y="5485509"/>
            <a:ext cx="102971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Основная функциональность между наиболее популярными гидродинамическими симуляторами совпадает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выделяется лишь 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CMG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(доступ ограничен ввиду геополитических обстоятельств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Ввиду доступности лицензий и схожей функциональности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повсеместной распространенности выбор останавливается на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tNavigator</a:t>
            </a:r>
            <a:endParaRPr lang="ru-RU" sz="1400" b="1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113">
            <a:extLst>
              <a:ext uri="{FF2B5EF4-FFF2-40B4-BE49-F238E27FC236}">
                <a16:creationId xmlns:a16="http://schemas.microsoft.com/office/drawing/2014/main" id="{13C0D0C4-617A-5321-3B3C-5D767AEB2B85}"/>
              </a:ext>
            </a:extLst>
          </p:cNvPr>
          <p:cNvSpPr/>
          <p:nvPr/>
        </p:nvSpPr>
        <p:spPr>
          <a:xfrm flipH="1">
            <a:off x="332290" y="5277847"/>
            <a:ext cx="28803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106515">
              <a:defRPr/>
            </a:pPr>
            <a:r>
              <a:rPr lang="ru-RU" sz="8000" kern="0" dirty="0">
                <a:solidFill>
                  <a:srgbClr val="EB6C15"/>
                </a:solidFill>
                <a:latin typeface="Book Antiqua" panose="02040602050305030304" pitchFamily="18" charset="0"/>
                <a:cs typeface="Arial" panose="020B0604020202020204" pitchFamily="34" charset="0"/>
              </a:rPr>
              <a:t>!</a:t>
            </a:r>
            <a:endParaRPr lang="en-US" sz="8000" kern="0" dirty="0">
              <a:solidFill>
                <a:srgbClr val="EB6C15"/>
              </a:solidFill>
              <a:latin typeface="Book Antiqua" panose="02040602050305030304" pitchFamily="18" charset="0"/>
              <a:cs typeface="Arial" panose="020B060402020202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5C892B82-91DD-D9D8-BD71-703591928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647397"/>
              </p:ext>
            </p:extLst>
          </p:nvPr>
        </p:nvGraphicFramePr>
        <p:xfrm>
          <a:off x="1151306" y="748103"/>
          <a:ext cx="9086822" cy="4661284"/>
        </p:xfrm>
        <a:graphic>
          <a:graphicData uri="http://schemas.openxmlformats.org/drawingml/2006/table">
            <a:tbl>
              <a:tblPr firstRow="1" firstCol="1" bandRow="1"/>
              <a:tblGrid>
                <a:gridCol w="3265791">
                  <a:extLst>
                    <a:ext uri="{9D8B030D-6E8A-4147-A177-3AD203B41FA5}">
                      <a16:colId xmlns:a16="http://schemas.microsoft.com/office/drawing/2014/main" val="3741022965"/>
                    </a:ext>
                  </a:extLst>
                </a:gridCol>
                <a:gridCol w="5821031">
                  <a:extLst>
                    <a:ext uri="{9D8B030D-6E8A-4147-A177-3AD203B41FA5}">
                      <a16:colId xmlns:a16="http://schemas.microsoft.com/office/drawing/2014/main" val="3130768282"/>
                    </a:ext>
                  </a:extLst>
                </a:gridCol>
              </a:tblGrid>
              <a:tr h="18424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симулятора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300" b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моделей и методов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921043"/>
                  </a:ext>
                </a:extLst>
              </a:tr>
              <a:tr h="9579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ECLIPSE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двойной проницаемости, моделирование взаимодействия между матрицей и трещинами через параметры обмена флюидами,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позволяет определяют условия стабильности газовых гидратов.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854830"/>
                  </a:ext>
                </a:extLst>
              </a:tr>
              <a:tr h="1289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CMG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поддержка моделей двойной пористости и проницаемости, возможность моделирования трещиноватых коллекторов, включая естественную и индуцированную трещиноватость,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сложные задачи с моделирование термальных процессов (специфика сланцевых залежей Канады)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Вычисление условий, при которых гидраты могут образовываться в призабойной зоне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условия накопления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88370"/>
                  </a:ext>
                </a:extLst>
              </a:tr>
              <a:tr h="11277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tNavigator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Есть высокопроизводительный решатель для больших моделей месторождений, полная поддержка моделей DP-DK, есть возможность работы с трещинами различной природы (естественные, гидроразрыв пласта), тепловые методы воздействия SAGD,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VAPEX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BUTEX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CSS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ISC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индикация </a:t>
                      </a:r>
                      <a:r>
                        <a:rPr lang="ru-RU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гидратобразования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132830"/>
                  </a:ext>
                </a:extLst>
              </a:tr>
              <a:tr h="2067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Tempest</a:t>
                      </a:r>
                      <a:endParaRPr lang="ru-RU" sz="13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Специализация на моделировании пластовых систем с акцентом на интеграцию с геологическими моделями (</a:t>
                      </a:r>
                      <a:r>
                        <a:rPr lang="en-US" sz="13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Roxar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RMS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Поддерживает модель “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Black Oil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", Композиционные модели и различные термические процессы (так же ).</a:t>
                      </a:r>
                      <a:r>
                        <a:rPr lang="en-US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3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базовыми возможностями, такими как учет термодинамических условий и простых моделей блокировки потока</a:t>
                      </a:r>
                    </a:p>
                  </a:txBody>
                  <a:tcPr marL="61681" marR="61681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88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77D8-F39C-632B-9057-B7CA32DD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E8B39-E833-02A0-81FE-86D29537A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349525B-F241-6AA6-E26A-16404FD9563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15540E4-7740-43A6-8B60-7D77C72154DA}"/>
              </a:ext>
            </a:extLst>
          </p:cNvPr>
          <p:cNvSpPr txBox="1">
            <a:spLocks/>
          </p:cNvSpPr>
          <p:nvPr/>
        </p:nvSpPr>
        <p:spPr>
          <a:xfrm>
            <a:off x="139454" y="102379"/>
            <a:ext cx="9004545" cy="464004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Численное моделирование в симуляторе</a:t>
            </a:r>
          </a:p>
        </p:txBody>
      </p:sp>
    </p:spTree>
    <p:extLst>
      <p:ext uri="{BB962C8B-B14F-4D97-AF65-F5344CB8AC3E}">
        <p14:creationId xmlns:p14="http://schemas.microsoft.com/office/powerpoint/2010/main" val="23493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CBEB-57E3-76AB-F7ED-81119659C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F0B0AD-C355-C7EF-87E8-FA77C34C3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342D912-8654-B548-E972-6ACE5636F856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9FBE2AF-1D94-7BDD-ED5A-C306E2C4EE53}"/>
              </a:ext>
            </a:extLst>
          </p:cNvPr>
          <p:cNvSpPr txBox="1">
            <a:spLocks/>
          </p:cNvSpPr>
          <p:nvPr/>
        </p:nvSpPr>
        <p:spPr>
          <a:xfrm>
            <a:off x="117722" y="34120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Блок-схема алгоритма (ИКР)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B70FF3-B4CC-4501-A762-F35821794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801" y="755734"/>
            <a:ext cx="3818904" cy="54011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D9EAEE-EA33-D908-743B-35DF25DCF3E1}"/>
              </a:ext>
            </a:extLst>
          </p:cNvPr>
          <p:cNvSpPr txBox="1"/>
          <p:nvPr/>
        </p:nvSpPr>
        <p:spPr>
          <a:xfrm>
            <a:off x="6169367" y="1167667"/>
            <a:ext cx="433099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Плюсы</a:t>
            </a:r>
            <a:r>
              <a:rPr lang="en-US" sz="1600" b="1" dirty="0"/>
              <a:t>:</a:t>
            </a:r>
            <a:endParaRPr lang="ru-RU" sz="1600" b="1" dirty="0"/>
          </a:p>
          <a:p>
            <a:pPr marL="285750" indent="-285750">
              <a:buFontTx/>
              <a:buChar char="-"/>
            </a:pPr>
            <a:r>
              <a:rPr lang="ru-RU" sz="1600" dirty="0"/>
              <a:t>Падение продуктивности вследствие образования гидрата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Нет потребности реализовывать численную схему для тепломассопереноса</a:t>
            </a:r>
          </a:p>
          <a:p>
            <a:endParaRPr lang="ru-RU" sz="1600" b="1" dirty="0"/>
          </a:p>
          <a:p>
            <a:r>
              <a:rPr lang="ru-RU" sz="1600" b="1" dirty="0"/>
              <a:t>Недостатки</a:t>
            </a:r>
            <a:r>
              <a:rPr lang="en-US" sz="1600" b="1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Завершение расчетного шага без влияния выпадения гидрата</a:t>
            </a:r>
            <a:r>
              <a:rPr lang="en-US" sz="1600" dirty="0"/>
              <a:t>, </a:t>
            </a:r>
            <a:r>
              <a:rPr lang="ru-RU" sz="1600" dirty="0"/>
              <a:t>влияние на продуктивность на следующем шаге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Создание промежуточных моделей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Влияние порядка обхода блоков (перенос не </a:t>
            </a:r>
            <a:r>
              <a:rPr lang="ru-RU" sz="1600" dirty="0" err="1"/>
              <a:t>кольматировавшегося</a:t>
            </a:r>
            <a:r>
              <a:rPr lang="ru-RU" sz="1600" dirty="0"/>
              <a:t> гидрата в соседние блоки)</a:t>
            </a:r>
          </a:p>
          <a:p>
            <a:pPr marL="342900" indent="-342900">
              <a:buFontTx/>
              <a:buChar char="-"/>
            </a:pPr>
            <a:r>
              <a:rPr lang="ru-RU" sz="1600" dirty="0"/>
              <a:t>Нет учета падения минерализации связанной воды</a:t>
            </a:r>
          </a:p>
        </p:txBody>
      </p:sp>
    </p:spTree>
    <p:extLst>
      <p:ext uri="{BB962C8B-B14F-4D97-AF65-F5344CB8AC3E}">
        <p14:creationId xmlns:p14="http://schemas.microsoft.com/office/powerpoint/2010/main" val="2327865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EBDA6-85C7-246F-6A19-CD93B2E93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FC36EE4-C2D1-0319-C04B-2C9BD9B00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3EB97CA6-98D6-DCA3-17E1-C74CD9A0843D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815A834-DB0E-D4B4-B970-38CC6D9C9AF3}"/>
              </a:ext>
            </a:extLst>
          </p:cNvPr>
          <p:cNvSpPr txBox="1">
            <a:spLocks/>
          </p:cNvSpPr>
          <p:nvPr/>
        </p:nvSpPr>
        <p:spPr>
          <a:xfrm>
            <a:off x="105335" y="136480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042C68-E3A1-306E-4309-DC7FC3394CF9}"/>
              </a:ext>
            </a:extLst>
          </p:cNvPr>
          <p:cNvSpPr txBox="1"/>
          <p:nvPr/>
        </p:nvSpPr>
        <p:spPr>
          <a:xfrm>
            <a:off x="678083" y="651618"/>
            <a:ext cx="94720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Для индикации факта выпадения гидратов в </a:t>
            </a:r>
            <a:r>
              <a:rPr lang="en-US" sz="1600" dirty="0" err="1"/>
              <a:t>tNavigator</a:t>
            </a:r>
            <a:r>
              <a:rPr lang="en-US" sz="1600" dirty="0"/>
              <a:t> </a:t>
            </a:r>
            <a:r>
              <a:rPr lang="ru-RU" sz="1600" dirty="0"/>
              <a:t>используется модель адсорбции Ирвинга </a:t>
            </a:r>
            <a:r>
              <a:rPr lang="ru-RU" sz="1600" dirty="0" err="1"/>
              <a:t>Ленгмюра</a:t>
            </a:r>
            <a:r>
              <a:rPr lang="en-US" sz="1600" dirty="0"/>
              <a:t>, </a:t>
            </a:r>
            <a:r>
              <a:rPr lang="ru-RU" sz="1600" dirty="0"/>
              <a:t>в соответствии с которой образование газового гидрата ограничено предельной равновесной концентрацией, определяемой как функция от давления и температуры: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2A043D-A9E4-1DED-C53F-81FBB475F213}"/>
                  </a:ext>
                </a:extLst>
              </p:cNvPr>
              <p:cNvSpPr txBox="1"/>
              <p:nvPr/>
            </p:nvSpPr>
            <p:spPr>
              <a:xfrm>
                <a:off x="2740826" y="1412253"/>
                <a:ext cx="5346550" cy="653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ru-RU" sz="1800" i="0">
                              <a:latin typeface="Cambria Math" panose="02040503050406030204" pitchFamily="18" charset="0"/>
                            </a:rPr>
                            <m:t>eq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ru-RU" sz="1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ru-RU" sz="18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ru-RU" sz="1800" i="0"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ru-RU" sz="1800" i="0">
                          <a:latin typeface="Cambria Math" panose="02040503050406030204" pitchFamily="18" charset="0"/>
                        </a:rPr>
                        <m:t> 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ru-RU" sz="18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D2A043D-A9E4-1DED-C53F-81FBB475F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0826" y="1412253"/>
                <a:ext cx="5346550" cy="6533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5A67686-4DF2-CEAF-8623-E3014931D5F6}"/>
                  </a:ext>
                </a:extLst>
              </p:cNvPr>
              <p:cNvSpPr txBox="1"/>
              <p:nvPr/>
            </p:nvSpPr>
            <p:spPr>
              <a:xfrm>
                <a:off x="553466" y="2089003"/>
                <a:ext cx="10147649" cy="6810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8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максимальное гидратное насыщение,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8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параметр </a:t>
                </a:r>
                <a:r>
                  <a:rPr lang="ru-RU" sz="1800" dirty="0" err="1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Ленгмюра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(характерное давление насыщения),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1800" i="1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−давление газа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1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8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ru-RU" sz="18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кинетический коэффициент.</a:t>
                </a:r>
                <a:endParaRPr lang="ru-RU" sz="1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5A67686-4DF2-CEAF-8623-E3014931D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66" y="2089003"/>
                <a:ext cx="10147649" cy="681084"/>
              </a:xfrm>
              <a:prstGeom prst="rect">
                <a:avLst/>
              </a:prstGeom>
              <a:blipFill>
                <a:blip r:embed="rId4"/>
                <a:stretch>
                  <a:fillRect l="-541" t="-4505" r="-962" b="-117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7C6F81-C173-0326-4B0A-62D429853168}"/>
                  </a:ext>
                </a:extLst>
              </p:cNvPr>
              <p:cNvSpPr txBox="1"/>
              <p:nvPr/>
            </p:nvSpPr>
            <p:spPr>
              <a:xfrm>
                <a:off x="538048" y="2877305"/>
                <a:ext cx="97521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Рассмотрим произвольную фазу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∈{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𝑔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𝑤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(газ, вода, гидрат). Запишем локальное уравнение баланса массы для этой фазы в пористой среде: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7C6F81-C173-0326-4B0A-62D4298531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48" y="2877305"/>
                <a:ext cx="9752106" cy="584775"/>
              </a:xfrm>
              <a:prstGeom prst="rect">
                <a:avLst/>
              </a:prstGeom>
              <a:blipFill>
                <a:blip r:embed="rId5"/>
                <a:stretch>
                  <a:fillRect l="-313" t="-3125" b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2EC4FD-E5AB-8E15-7064-37DF33BAD9EC}"/>
                  </a:ext>
                </a:extLst>
              </p:cNvPr>
              <p:cNvSpPr txBox="1"/>
              <p:nvPr/>
            </p:nvSpPr>
            <p:spPr>
              <a:xfrm>
                <a:off x="2693976" y="3538146"/>
                <a:ext cx="5346550" cy="7359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</m:e>
                      </m:d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∇</m:t>
                      </m:r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</m:e>
                      </m:d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2EC4FD-E5AB-8E15-7064-37DF33BAD9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976" y="3538146"/>
                <a:ext cx="5346550" cy="7359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97F7704-1C97-6968-672D-B8A62CC2DD25}"/>
                  </a:ext>
                </a:extLst>
              </p:cNvPr>
              <p:cNvSpPr txBox="1"/>
              <p:nvPr/>
            </p:nvSpPr>
            <p:spPr>
              <a:xfrm>
                <a:off x="553466" y="4014510"/>
                <a:ext cx="9137647" cy="21980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en-US" sz="1600" dirty="0" err="1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где</a:t>
                </a:r>
                <a:endParaRPr lang="ru-RU" sz="1600" dirty="0">
                  <a:effectLst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𝜙</m:t>
                    </m:r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—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открытая </a:t>
                </a:r>
                <a:r>
                  <a:rPr lang="en-US" sz="1600" dirty="0" err="1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пористость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;</a:t>
                </a:r>
                <a:endParaRPr lang="ru-RU" sz="1600" dirty="0">
                  <a:effectLst/>
                  <a:ea typeface="Times New Roman" panose="02020603050405020304" pitchFamily="18" charset="0"/>
                  <a:cs typeface="Symbol" panose="05050102010706020507" pitchFamily="18" charset="2"/>
                </a:endParaRP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насыщение фазы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𝛼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 (доля порового объёма);</a:t>
                </a: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плотность фазы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𝛼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;</a:t>
                </a: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sz="16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𝐮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фильтрационная скорость фазы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𝛼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 (скорость Дарси);</a:t>
                </a:r>
              </a:p>
              <a:p>
                <a:pPr marL="342900" lvl="0" indent="-342900">
                  <a:spcAft>
                    <a:spcPts val="1000"/>
                  </a:spcAft>
                  <a:buFont typeface="Symbol" panose="05050102010706020507" pitchFamily="18" charset="2"/>
                  <a:buChar char="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Γ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— источник (если </a:t>
                </a:r>
                <a14:m>
                  <m:oMath xmlns:m="http://schemas.openxmlformats.org/officeDocument/2006/math"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&gt;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0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) или сток (если </a:t>
                </a:r>
                <a14:m>
                  <m:oMath xmlns:m="http://schemas.openxmlformats.org/officeDocument/2006/math"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&lt;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Symbol" panose="05050102010706020507" pitchFamily="18" charset="2"/>
                      </a:rPr>
                      <m:t>0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Symbol" panose="05050102010706020507" pitchFamily="18" charset="2"/>
                  </a:rPr>
                  <a:t>) массы фазы за счёт фазового перехода.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97F7704-1C97-6968-672D-B8A62CC2D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466" y="4014510"/>
                <a:ext cx="9137647" cy="2198038"/>
              </a:xfrm>
              <a:prstGeom prst="rect">
                <a:avLst/>
              </a:prstGeom>
              <a:blipFill>
                <a:blip r:embed="rId7"/>
                <a:stretch>
                  <a:fillRect l="-400" t="-833" b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7716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BCEF6-6808-8C31-A6F1-2001718DA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F346496-D641-FA9B-7FFB-896034898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5D06EC9-4CAE-D8A4-E2BF-2C4B37B61EA8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1F35C269-5061-6DBA-9191-3D8EDFFA488B}"/>
              </a:ext>
            </a:extLst>
          </p:cNvPr>
          <p:cNvSpPr txBox="1">
            <a:spLocks/>
          </p:cNvSpPr>
          <p:nvPr/>
        </p:nvSpPr>
        <p:spPr>
          <a:xfrm>
            <a:off x="56019" y="16362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/>
              <p:nvPr/>
            </p:nvSpPr>
            <p:spPr>
              <a:xfrm>
                <a:off x="807555" y="658294"/>
                <a:ext cx="9752106" cy="13080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Делая допущение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что обратные фазовые переходы не происходят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можно записать что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Γ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a typeface="Times New Roman" panose="02020603050405020304" pitchFamily="18" charset="0"/>
                    <a:cs typeface="Symbol" panose="05050102010706020507" pitchFamily="18" charset="2"/>
                  </a:rPr>
                  <a:t> 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зависит от скорости образования газового гидрата. Введя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скалярную величину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ru-RU" sz="16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sz="1600" b="1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𝐱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𝒚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𝒛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𝑻</m:t>
                        </m:r>
                      </m:e>
                    </m:d>
                  </m:oMath>
                </a14:m>
                <a:r>
                  <a:rPr lang="en-US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как скорость образования гидрата:</a:t>
                </a:r>
              </a:p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4FBFDA-4973-546F-AF8B-4110C2C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658294"/>
                <a:ext cx="9752106" cy="1308050"/>
              </a:xfrm>
              <a:prstGeom prst="rect">
                <a:avLst/>
              </a:prstGeom>
              <a:blipFill>
                <a:blip r:embed="rId3"/>
                <a:stretch>
                  <a:fillRect l="-313" t="-13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/>
              <p:nvPr/>
            </p:nvSpPr>
            <p:spPr>
              <a:xfrm>
                <a:off x="2716056" y="1580797"/>
                <a:ext cx="53465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Symbol" panose="05050102010706020507" pitchFamily="18" charset="2"/>
                            </a:rPr>
                            <m:t>𝛼</m:t>
                          </m:r>
                        </m:sub>
                      </m:sSub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ru-RU" sz="24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𝐱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𝒚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0034932-1CE6-F547-7EEA-87AA784D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6056" y="1580797"/>
                <a:ext cx="5346550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/>
              <p:nvPr/>
            </p:nvSpPr>
            <p:spPr>
              <a:xfrm>
                <a:off x="807555" y="2266101"/>
                <a:ext cx="9752106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При этом для газа и воды стехиометрический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Symbol" panose="05050102010706020507" pitchFamily="18" charset="2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должен быть отрицательным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 для гидрата положительным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тогда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15C24-03C4-3657-2423-F7E7D371A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2266101"/>
                <a:ext cx="9752106" cy="584775"/>
              </a:xfrm>
              <a:prstGeom prst="rect">
                <a:avLst/>
              </a:prstGeom>
              <a:blipFill>
                <a:blip r:embed="rId5"/>
                <a:stretch>
                  <a:fillRect l="-313" t="-3125" b="-125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5A854-91A8-BC7A-611C-0208F7BA1A46}"/>
                  </a:ext>
                </a:extLst>
              </p:cNvPr>
              <p:cNvSpPr txBox="1"/>
              <p:nvPr/>
            </p:nvSpPr>
            <p:spPr>
              <a:xfrm>
                <a:off x="2455395" y="2917197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ru-RU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e>
                      </m:d>
                      <m:r>
                        <a:rPr lang="ru-RU" b="0" i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D5A854-91A8-BC7A-611C-0208F7BA1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395" y="2917197"/>
                <a:ext cx="5346550" cy="7068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CFF749-6904-ACA5-D26C-4D16C43EB812}"/>
                  </a:ext>
                </a:extLst>
              </p:cNvPr>
              <p:cNvSpPr txBox="1"/>
              <p:nvPr/>
            </p:nvSpPr>
            <p:spPr>
              <a:xfrm>
                <a:off x="2527025" y="3796761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ru-RU" i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b="1" i="0"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ru-RU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e>
                      </m:d>
                      <m:r>
                        <a:rPr lang="ru-RU" b="0" i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ru-RU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b="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0CFF749-6904-ACA5-D26C-4D16C43EB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025" y="3796761"/>
                <a:ext cx="5346550" cy="7068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E76C120-FEC9-A1E8-C422-85444699A924}"/>
                  </a:ext>
                </a:extLst>
              </p:cNvPr>
              <p:cNvSpPr txBox="1"/>
              <p:nvPr/>
            </p:nvSpPr>
            <p:spPr>
              <a:xfrm>
                <a:off x="1702360" y="4569942"/>
                <a:ext cx="5346550" cy="70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E76C120-FEC9-A1E8-C422-85444699A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2360" y="4569942"/>
                <a:ext cx="5346550" cy="7068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/>
              <p:nvPr/>
            </p:nvSpPr>
            <p:spPr>
              <a:xfrm>
                <a:off x="807555" y="5408562"/>
                <a:ext cx="8471647" cy="8510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плотности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𝐮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фильтрационные скорости,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скорость образования гидрата (масса на единицу объёма и времени),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𝑔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𝜈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latin typeface="Aptos" panose="020B00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 стехиометрические коэффициенты переноса массы.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A6DE5A-B037-3152-31EB-3D6734A68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55" y="5408562"/>
                <a:ext cx="8471647" cy="851002"/>
              </a:xfrm>
              <a:prstGeom prst="rect">
                <a:avLst/>
              </a:prstGeom>
              <a:blipFill>
                <a:blip r:embed="rId9"/>
                <a:stretch>
                  <a:fillRect l="-360" t="-2143" b="-7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3957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21A4E-AF9D-BB9C-D3C1-C415482C1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4C337CD-413E-635F-E4BD-A005FB4AE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95507178-8032-1FEF-026F-368C9F30DFF7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44844A6-C6D1-A1BC-992A-1C9249B9D031}"/>
                  </a:ext>
                </a:extLst>
              </p:cNvPr>
              <p:cNvSpPr txBox="1"/>
              <p:nvPr/>
            </p:nvSpPr>
            <p:spPr>
              <a:xfrm>
                <a:off x="579851" y="866281"/>
                <a:ext cx="997474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Если предположить, что плотность гидрата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 пористость </a:t>
                </a:r>
                <a14:m>
                  <m:oMath xmlns:m="http://schemas.openxmlformats.org/officeDocument/2006/math"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𝜙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не зависят от времени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монотонно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между некоторыми равновесными </a:t>
                </a:r>
                <a:r>
                  <a:rPr lang="ru-RU" sz="16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состояними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 подставляя в закон сохранения массы гидрата уравнение для концентрации фазы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получим связь вида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44844A6-C6D1-A1BC-992A-1C9249B9D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851" y="866281"/>
                <a:ext cx="9974741" cy="830997"/>
              </a:xfrm>
              <a:prstGeom prst="rect">
                <a:avLst/>
              </a:prstGeom>
              <a:blipFill>
                <a:blip r:embed="rId3"/>
                <a:stretch>
                  <a:fillRect l="-306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A47F66-F55B-DC4A-F211-03CCA825328A}"/>
                  </a:ext>
                </a:extLst>
              </p:cNvPr>
              <p:cNvSpPr txBox="1"/>
              <p:nvPr/>
            </p:nvSpPr>
            <p:spPr>
              <a:xfrm>
                <a:off x="2018400" y="1950597"/>
                <a:ext cx="5346550" cy="7615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 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𝜈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 ⇒ 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</m:den>
                      </m:f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A47F66-F55B-DC4A-F211-03CCA8253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8400" y="1950597"/>
                <a:ext cx="5346550" cy="7615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E95AFB-18CB-1EB6-F44D-CAB2762BE5C2}"/>
                  </a:ext>
                </a:extLst>
              </p:cNvPr>
              <p:cNvSpPr txBox="1"/>
              <p:nvPr/>
            </p:nvSpPr>
            <p:spPr>
              <a:xfrm>
                <a:off x="702347" y="2845414"/>
                <a:ext cx="9077113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Таким образом, используя функцию скорости образования гидрата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(кинетику образования гидрата), можно определять насыщение порового пространства газовым гидратом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6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𝐱</m:t>
                    </m:r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Имея с одной стороны выражение уравнение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ru-RU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из закона сохранения массы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 с другой из модели адсорбции</a:t>
                </a:r>
                <a:r>
                  <a:rPr lang="en-US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получим</a:t>
                </a:r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600" dirty="0">
                  <a:effectLst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E95AFB-18CB-1EB6-F44D-CAB2762BE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347" y="2845414"/>
                <a:ext cx="9077113" cy="1077218"/>
              </a:xfrm>
              <a:prstGeom prst="rect">
                <a:avLst/>
              </a:prstGeom>
              <a:blipFill>
                <a:blip r:embed="rId5"/>
                <a:stretch>
                  <a:fillRect l="-336" t="-1705" b="-68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AC9568-4C4F-5E4D-995B-184805BDDBB1}"/>
                  </a:ext>
                </a:extLst>
              </p:cNvPr>
              <p:cNvSpPr txBox="1"/>
              <p:nvPr/>
            </p:nvSpPr>
            <p:spPr>
              <a:xfrm>
                <a:off x="2397395" y="4055894"/>
                <a:ext cx="5346550" cy="761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𝜙</m:t>
                          </m:r>
                        </m:den>
                      </m:f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ru-RU" i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p>
                          </m:sSubSup>
                          <m:d>
                            <m:dPr>
                              <m:sepChr m:val=",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0AC9568-4C4F-5E4D-995B-184805BDD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395" y="4055894"/>
                <a:ext cx="5346550" cy="761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4FAEC60-AD2F-FACC-2CE1-D9F4206B6E0A}"/>
              </a:ext>
            </a:extLst>
          </p:cNvPr>
          <p:cNvSpPr txBox="1"/>
          <p:nvPr/>
        </p:nvSpPr>
        <p:spPr>
          <a:xfrm>
            <a:off x="579851" y="4950455"/>
            <a:ext cx="90771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ru-RU" sz="16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Решив уравнение относительно насыщени</a:t>
            </a:r>
            <a:r>
              <a:rPr lang="ru-RU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я гидратом и подставив полученное насыщение в зависимость пористости от проницаемости по формуле </a:t>
            </a:r>
            <a:r>
              <a:rPr lang="ru-RU" sz="1600" dirty="0" err="1">
                <a:ea typeface="Times New Roman" panose="02020603050405020304" pitchFamily="18" charset="0"/>
                <a:cs typeface="Times New Roman" panose="02020603050405020304" pitchFamily="18" charset="0"/>
              </a:rPr>
              <a:t>Козени</a:t>
            </a:r>
            <a:r>
              <a:rPr lang="ru-RU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–Кармана</a:t>
            </a:r>
            <a:r>
              <a:rPr lang="en-US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получим</a:t>
            </a:r>
            <a:r>
              <a:rPr lang="en-US" sz="1600" dirty="0"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6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9D2C5A-79A0-CD2B-6161-4B20D315FF75}"/>
                  </a:ext>
                </a:extLst>
              </p:cNvPr>
              <p:cNvSpPr txBox="1"/>
              <p:nvPr/>
            </p:nvSpPr>
            <p:spPr>
              <a:xfrm>
                <a:off x="2319614" y="5693085"/>
                <a:ext cx="5346550" cy="415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i="0">
                              <a:latin typeface="Cambria Math" panose="02040503050406030204" pitchFamily="18" charset="0"/>
                            </a:rPr>
                            <m:t>abs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9D2C5A-79A0-CD2B-6161-4B20D315F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9614" y="5693085"/>
                <a:ext cx="5346550" cy="4154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FA9AE4D7-1015-C758-155B-43442A0B5EC3}"/>
              </a:ext>
            </a:extLst>
          </p:cNvPr>
          <p:cNvSpPr txBox="1">
            <a:spLocks/>
          </p:cNvSpPr>
          <p:nvPr/>
        </p:nvSpPr>
        <p:spPr>
          <a:xfrm>
            <a:off x="303228" y="97824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Модель аккумуляции гидрата коллектором</a:t>
            </a:r>
          </a:p>
        </p:txBody>
      </p:sp>
    </p:spTree>
    <p:extLst>
      <p:ext uri="{BB962C8B-B14F-4D97-AF65-F5344CB8AC3E}">
        <p14:creationId xmlns:p14="http://schemas.microsoft.com/office/powerpoint/2010/main" val="1893454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30FBF-8527-6058-C0EA-B2F2D164D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9602AD-42A7-49AD-65E3-D0487646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8131268-764A-4603-1526-F6FA89E8823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3053A83-2D46-01E8-BB0F-E8579DC8B84F}"/>
              </a:ext>
            </a:extLst>
          </p:cNvPr>
          <p:cNvSpPr txBox="1">
            <a:spLocks/>
          </p:cNvSpPr>
          <p:nvPr/>
        </p:nvSpPr>
        <p:spPr>
          <a:xfrm>
            <a:off x="173573" y="170619"/>
            <a:ext cx="9343017" cy="51513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Законы сохранения энергии с учетом фазовых переходов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F5F92-2ACA-280D-661C-EF2ABC21B0F6}"/>
              </a:ext>
            </a:extLst>
          </p:cNvPr>
          <p:cNvSpPr txBox="1"/>
          <p:nvPr/>
        </p:nvSpPr>
        <p:spPr>
          <a:xfrm>
            <a:off x="977600" y="1168824"/>
            <a:ext cx="85899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  <a:buNone/>
            </a:pPr>
            <a:r>
              <a:rPr lang="ru-RU" sz="16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Учитывая, что рассматриваемый процесс образования гидратов в аномальных пластах зависит не только от давления, но и от температуры, необходимо также учитывать закон сохранения энергии: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900"/>
                            </a:spcBef>
                            <a:spcAft>
                              <a:spcPts val="9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eqArr>
                                  <m:eqArrPr>
                                    <m:ctrlPr>
                                      <a:rPr lang="ru-RU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eqArrPr>
                                  <m:e>
                                    <m:f>
                                      <m:f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</m:num>
                                      <m:den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𝑡</m:t>
                                        </m:r>
                                      </m:den>
                                    </m:f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)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 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𝜙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𝜌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</m:e>
                                    </m:d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&amp;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∇</m:t>
                                    </m:r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d>
                                      <m:d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𝜆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eff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∇</m:t>
                                        </m:r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sz="1800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+</m:t>
                                        </m:r>
                                        <m:nary>
                                          <m:naryPr>
                                            <m:chr m:val="∑"/>
                                            <m:limLoc m:val="undOvr"/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∈{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𝑔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𝑤</m:t>
                                            </m:r>
                                            <m:r>
                                              <a:rPr lang="en-US" sz="1800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}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​</m:t>
                                            </m:r>
                                          </m:sup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𝜌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i="1">
                                                    <a:effectLst/>
                                                    <a:latin typeface="Cambria Math" panose="02040503050406030204" pitchFamily="18" charset="0"/>
                                                    <a:ea typeface="Times New Roman" panose="02020603050405020304" pitchFamily="18" charset="0"/>
                                                    <a:cs typeface="Times New Roman" panose="02020603050405020304" pitchFamily="18" charset="0"/>
                                                  </a:rPr>
                                                  <m:t>𝛼</m:t>
                                                </m:r>
                                              </m:sub>
                                            </m:sSub>
                                          </m:e>
                                        </m:nary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ru-RU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b="1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𝐮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𝛼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ru-RU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eqArr>
                              </m:oMath>
                            </m:oMathPara>
                          </a14:m>
                          <a:endParaRPr lang="ru-RU" sz="1800" dirty="0">
                            <a:effectLst/>
                            <a:latin typeface="Aptos" panose="020B0004020202020204" pitchFamily="34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8281FC33-3B9D-8AE0-A63F-C181072E3C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1733232"/>
                  </p:ext>
                </p:extLst>
              </p:nvPr>
            </p:nvGraphicFramePr>
            <p:xfrm>
              <a:off x="1100095" y="2398160"/>
              <a:ext cx="8881325" cy="129076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8881325">
                      <a:extLst>
                        <a:ext uri="{9D8B030D-6E8A-4147-A177-3AD203B41FA5}">
                          <a16:colId xmlns:a16="http://schemas.microsoft.com/office/drawing/2014/main" val="1606025839"/>
                        </a:ext>
                      </a:extLst>
                    </a:gridCol>
                  </a:tblGrid>
                  <a:tr h="129076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9081196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/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Здесь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  <m:r>
                      <a:rPr lang="ru-RU" sz="16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плотность и теплоёмкость матрицы,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теплоёмкости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эффективная теплопроводность пористой среды,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удельные энтальпии фаз,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e>
                      <m:sub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ru-RU" sz="1600" dirty="0"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— удельная скрытая теплота образования гидрата.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44F594-885A-CC0F-EC3A-DC97C73E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600" y="4918248"/>
                <a:ext cx="9343017" cy="830997"/>
              </a:xfrm>
              <a:prstGeom prst="rect">
                <a:avLst/>
              </a:prstGeom>
              <a:blipFill>
                <a:blip r:embed="rId4"/>
                <a:stretch>
                  <a:fillRect l="-326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8296444A-B997-4AA0-1252-91BFDF984583}"/>
              </a:ext>
            </a:extLst>
          </p:cNvPr>
          <p:cNvCxnSpPr>
            <a:cxnSpLocks/>
          </p:cNvCxnSpPr>
          <p:nvPr/>
        </p:nvCxnSpPr>
        <p:spPr>
          <a:xfrm flipH="1">
            <a:off x="4249380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0F7AFA-B907-0233-AD60-A98AE4F70369}"/>
              </a:ext>
            </a:extLst>
          </p:cNvPr>
          <p:cNvSpPr txBox="1"/>
          <p:nvPr/>
        </p:nvSpPr>
        <p:spPr>
          <a:xfrm>
            <a:off x="3097270" y="4040063"/>
            <a:ext cx="20313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Внутренняя энергия фаз в порах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BB8A14E2-C3B0-96E5-7DAA-8D3D94AE1A0B}"/>
              </a:ext>
            </a:extLst>
          </p:cNvPr>
          <p:cNvCxnSpPr>
            <a:cxnSpLocks/>
          </p:cNvCxnSpPr>
          <p:nvPr/>
        </p:nvCxnSpPr>
        <p:spPr>
          <a:xfrm flipH="1">
            <a:off x="7672105" y="2953659"/>
            <a:ext cx="370232" cy="1075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D83944-B03E-E993-860D-81C7FFD39470}"/>
              </a:ext>
            </a:extLst>
          </p:cNvPr>
          <p:cNvSpPr txBox="1"/>
          <p:nvPr/>
        </p:nvSpPr>
        <p:spPr>
          <a:xfrm>
            <a:off x="6519995" y="4040063"/>
            <a:ext cx="32047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50" dirty="0"/>
              <a:t>Конвективный перенос тепла фазами при движении</a:t>
            </a:r>
          </a:p>
        </p:txBody>
      </p:sp>
    </p:spTree>
    <p:extLst>
      <p:ext uri="{BB962C8B-B14F-4D97-AF65-F5344CB8AC3E}">
        <p14:creationId xmlns:p14="http://schemas.microsoft.com/office/powerpoint/2010/main" val="3356654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845FF-39E1-F26D-0B01-3A184E225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EC562E-F8B8-F61F-04E5-1B1DA7DC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D4E4D1BD-6107-D6EF-4633-500186EE382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E345A40C-FACC-6034-B428-39C344DFB7E5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Граничные условия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C2D416-5BF7-9C59-D7A7-A529744F6CA6}"/>
              </a:ext>
            </a:extLst>
          </p:cNvPr>
          <p:cNvSpPr txBox="1"/>
          <p:nvPr/>
        </p:nvSpPr>
        <p:spPr>
          <a:xfrm>
            <a:off x="261023" y="1037909"/>
            <a:ext cx="119349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Для численного решения уравнения сохранения энергии используем метод контрольных объёмов (</a:t>
            </a:r>
            <a:r>
              <a:rPr lang="ru-RU" dirty="0" err="1"/>
              <a:t>finite</a:t>
            </a:r>
            <a:r>
              <a:rPr lang="ru-RU" dirty="0"/>
              <a:t> </a:t>
            </a:r>
            <a:r>
              <a:rPr lang="ru-RU" dirty="0" err="1"/>
              <a:t>volume</a:t>
            </a:r>
            <a:r>
              <a:rPr lang="ru-RU" dirty="0"/>
              <a:t> </a:t>
            </a:r>
            <a:r>
              <a:rPr lang="ru-RU" dirty="0" err="1"/>
              <a:t>method</a:t>
            </a:r>
            <a:r>
              <a:rPr lang="ru-RU" dirty="0"/>
              <a:t>, FVM). Пространственная область разбивается на непересекающееся семейства контрольных объёмов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EAAAF1-CDC7-849D-F400-5B25A6DD408A}"/>
              </a:ext>
            </a:extLst>
          </p:cNvPr>
          <p:cNvSpPr txBox="1"/>
          <p:nvPr/>
        </p:nvSpPr>
        <p:spPr>
          <a:xfrm>
            <a:off x="523349" y="2054935"/>
            <a:ext cx="1038111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Условия решения краевой задачи</a:t>
            </a:r>
            <a:r>
              <a:rPr lang="en-US" dirty="0"/>
              <a:t>:</a:t>
            </a:r>
          </a:p>
          <a:p>
            <a:pPr marL="342900" indent="-342900">
              <a:buFontTx/>
              <a:buChar char="-"/>
            </a:pPr>
            <a:r>
              <a:rPr lang="ru-RU" dirty="0"/>
              <a:t>Моделируемая область ограничивается радиусом контура питания в 1000 метров.</a:t>
            </a:r>
          </a:p>
          <a:p>
            <a:pPr marL="342900" indent="-342900">
              <a:buFontTx/>
              <a:buChar char="-"/>
            </a:pPr>
            <a:r>
              <a:rPr lang="en-US" dirty="0"/>
              <a:t>No-flow </a:t>
            </a:r>
            <a:r>
              <a:rPr lang="ru-RU" dirty="0"/>
              <a:t>границы у контура питания с нулевым градиентом давления.</a:t>
            </a:r>
          </a:p>
          <a:p>
            <a:pPr marL="342900" indent="-342900">
              <a:buFontTx/>
              <a:buChar char="-"/>
            </a:pPr>
            <a:r>
              <a:rPr lang="ru-RU" dirty="0"/>
              <a:t>Не учитывается интерференция между скважинами.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поля пористости</a:t>
            </a:r>
            <a:r>
              <a:rPr lang="en-US" dirty="0"/>
              <a:t>, </a:t>
            </a:r>
            <a:r>
              <a:rPr lang="ru-RU" dirty="0"/>
              <a:t>проницаемости.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Задана начальное давление</a:t>
            </a:r>
            <a:r>
              <a:rPr lang="en-US" dirty="0"/>
              <a:t>, </a:t>
            </a:r>
            <a:r>
              <a:rPr lang="ru-RU" dirty="0"/>
              <a:t>температура.</a:t>
            </a:r>
          </a:p>
          <a:p>
            <a:pPr marL="342900" indent="-342900">
              <a:buFontTx/>
              <a:buChar char="-"/>
            </a:pPr>
            <a:r>
              <a:rPr lang="ru-RU" dirty="0"/>
              <a:t>Заданы </a:t>
            </a:r>
            <a:r>
              <a:rPr lang="en-US" dirty="0"/>
              <a:t>PVT-</a:t>
            </a:r>
            <a:r>
              <a:rPr lang="ru-RU" dirty="0"/>
              <a:t>свойства пластовых флюидов.</a:t>
            </a:r>
          </a:p>
          <a:p>
            <a:pPr marL="342900" indent="-342900">
              <a:buFontTx/>
              <a:buChar char="-"/>
            </a:pPr>
            <a:r>
              <a:rPr lang="ru-RU" dirty="0"/>
              <a:t>Известно начальное насыщение коллектора (</a:t>
            </a:r>
            <a:r>
              <a:rPr lang="en-US" dirty="0" err="1"/>
              <a:t>Sw</a:t>
            </a:r>
            <a:r>
              <a:rPr lang="en-US" dirty="0"/>
              <a:t>, Sg</a:t>
            </a:r>
            <a:r>
              <a:rPr lang="ru-RU" dirty="0"/>
              <a:t>)</a:t>
            </a:r>
            <a:r>
              <a:rPr lang="en-US" dirty="0"/>
              <a:t>, </a:t>
            </a:r>
            <a:r>
              <a:rPr lang="ru-RU" dirty="0"/>
              <a:t>гидратов нет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Принимается допущение о </a:t>
            </a:r>
            <a:r>
              <a:rPr lang="ru-RU" dirty="0" err="1"/>
              <a:t>несжимаемости</a:t>
            </a:r>
            <a:r>
              <a:rPr lang="ru-RU" dirty="0"/>
              <a:t> флюидов и газового гидрата</a:t>
            </a:r>
            <a:r>
              <a:rPr lang="en-US" dirty="0"/>
              <a:t>.</a:t>
            </a:r>
            <a:endParaRPr lang="ru-RU" dirty="0"/>
          </a:p>
          <a:p>
            <a:pPr marL="342900" indent="-342900">
              <a:buFontTx/>
              <a:buChar char="-"/>
            </a:pPr>
            <a:r>
              <a:rPr lang="ru-RU" dirty="0"/>
              <a:t>Принимаются однонаправленные фазовые переходы </a:t>
            </a:r>
            <a:r>
              <a:rPr lang="en-US" dirty="0" err="1"/>
              <a:t>Sw</a:t>
            </a:r>
            <a:r>
              <a:rPr lang="en-US" dirty="0"/>
              <a:t> + Sg = </a:t>
            </a:r>
            <a:r>
              <a:rPr lang="en-US" dirty="0" err="1"/>
              <a:t>Sh</a:t>
            </a:r>
            <a:r>
              <a:rPr lang="en-US" dirty="0"/>
              <a:t>,</a:t>
            </a:r>
            <a:endParaRPr lang="ru-RU" dirty="0"/>
          </a:p>
          <a:p>
            <a:r>
              <a:rPr lang="ru-RU" dirty="0"/>
              <a:t>обратный произвольный переход не рассматривается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Сетка стационарная прямоугольная</a:t>
            </a:r>
            <a:r>
              <a:rPr lang="en-US" dirty="0"/>
              <a:t>.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ru-RU" dirty="0"/>
              <a:t>Известная кривая </a:t>
            </a:r>
            <a:r>
              <a:rPr lang="ru-RU" dirty="0" err="1"/>
              <a:t>гидратообразования</a:t>
            </a:r>
            <a:r>
              <a:rPr lang="en-US" dirty="0"/>
              <a:t>, </a:t>
            </a:r>
            <a:r>
              <a:rPr lang="ru-RU" dirty="0"/>
              <a:t>состав газа и воды</a:t>
            </a:r>
            <a:r>
              <a:rPr lang="en-US" dirty="0"/>
              <a:t>, </a:t>
            </a:r>
            <a:r>
              <a:rPr lang="ru-RU" dirty="0"/>
              <a:t>наличие центров кристаллизации в виде</a:t>
            </a:r>
          </a:p>
          <a:p>
            <a:r>
              <a:rPr lang="ru-RU" dirty="0" err="1"/>
              <a:t>парфинов</a:t>
            </a:r>
            <a:r>
              <a:rPr lang="ru-RU" dirty="0"/>
              <a:t> или иных примесей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325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2531-DEAE-FEB0-99A4-23F214D0C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57E3210-14E4-0397-4B5B-D21D38680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A28BADE8-D2D3-B05A-9AE9-069F78E12BDD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71C1A56-3790-617B-07DF-67960F5C52C4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Функционал программного комплекса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07C0B-D7A9-3AE7-E701-526889B6A707}"/>
              </a:ext>
            </a:extLst>
          </p:cNvPr>
          <p:cNvSpPr txBox="1"/>
          <p:nvPr/>
        </p:nvSpPr>
        <p:spPr>
          <a:xfrm>
            <a:off x="523349" y="2054935"/>
            <a:ext cx="2828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На основе С2-С3 диаграмм</a:t>
            </a:r>
          </a:p>
        </p:txBody>
      </p:sp>
    </p:spTree>
    <p:extLst>
      <p:ext uri="{BB962C8B-B14F-4D97-AF65-F5344CB8AC3E}">
        <p14:creationId xmlns:p14="http://schemas.microsoft.com/office/powerpoint/2010/main" val="3718077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10EA-AD71-30AC-FA19-E26B21A25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D7BE9F-A91D-EDBE-BFB3-F9929F1A0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B41B59B-8021-498B-CEB6-4141C29DDF65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01C6E084-3A11-C6D5-9556-1E27A9506C4D}"/>
              </a:ext>
            </a:extLst>
          </p:cNvPr>
          <p:cNvSpPr txBox="1">
            <a:spLocks/>
          </p:cNvSpPr>
          <p:nvPr/>
        </p:nvSpPr>
        <p:spPr>
          <a:xfrm>
            <a:off x="213256" y="49267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CA8BED-1876-F01B-65BB-7CD4426E1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089" y="670630"/>
            <a:ext cx="7840527" cy="51614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061829-0256-0849-0BAB-4849FDE4F823}"/>
              </a:ext>
            </a:extLst>
          </p:cNvPr>
          <p:cNvSpPr txBox="1"/>
          <p:nvPr/>
        </p:nvSpPr>
        <p:spPr>
          <a:xfrm>
            <a:off x="2965986" y="5832059"/>
            <a:ext cx="17392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C1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148032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82B00-D211-286F-8792-E26D5990F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26538D-A850-277D-F3D5-4981E1319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138B802-6CE3-EEB3-D54F-6F50F3ABFA7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407D5FC-9AA9-4B12-2581-966DB29FD118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Результаты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A45C7C2-C304-36AD-0764-E664AD93D84D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3251818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 литературный обзор</a:t>
            </a:r>
            <a:r>
              <a:rPr lang="en-US" sz="1800" dirty="0"/>
              <a:t>, </a:t>
            </a:r>
            <a:r>
              <a:rPr lang="ru-RU" sz="1800" dirty="0"/>
              <a:t>подготовлена обзорная статья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численное моделирование скважин месторождения Х на которых с помощью ГДИ выявлены аномальные падения продуктивности на высоко депрессионных режимах работы.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 процессе разработки физико-математическая модель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Выполнено проектирование программного комплекса</a:t>
            </a:r>
            <a:r>
              <a:rPr lang="en-US" sz="1800" dirty="0"/>
              <a:t>, </a:t>
            </a:r>
            <a:r>
              <a:rPr lang="ru-RU" sz="1800" dirty="0"/>
              <a:t>в процессе выполнения реализация.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Разработан план численного эксперимента и верификации результатов.</a:t>
            </a:r>
          </a:p>
        </p:txBody>
      </p:sp>
    </p:spTree>
    <p:extLst>
      <p:ext uri="{BB962C8B-B14F-4D97-AF65-F5344CB8AC3E}">
        <p14:creationId xmlns:p14="http://schemas.microsoft.com/office/powerpoint/2010/main" val="5425906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0ECE-2443-9E90-DBD9-29070835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AE9580-58B1-96B3-B94B-DA433AEB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661748BD-3DE0-0C6E-5ADD-692C4F3A612A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2A43007-3216-E7D8-306F-C8FE07DD93D5}"/>
              </a:ext>
            </a:extLst>
          </p:cNvPr>
          <p:cNvSpPr txBox="1"/>
          <p:nvPr/>
        </p:nvSpPr>
        <p:spPr>
          <a:xfrm>
            <a:off x="122831" y="155852"/>
            <a:ext cx="61005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dirty="0">
                <a:latin typeface="Fira Sans Bold"/>
              </a:rPr>
              <a:t>Публикации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BDFCF2B-40B6-7093-11A0-5F0223F5A98E}"/>
              </a:ext>
            </a:extLst>
          </p:cNvPr>
          <p:cNvSpPr txBox="1">
            <a:spLocks/>
          </p:cNvSpPr>
          <p:nvPr/>
        </p:nvSpPr>
        <p:spPr>
          <a:xfrm>
            <a:off x="457200" y="1422541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Проектирование интеграции для моделирования</a:t>
            </a:r>
            <a:r>
              <a:rPr lang="en-US" sz="1800" dirty="0"/>
              <a:t> </a:t>
            </a:r>
            <a:r>
              <a:rPr lang="ru-RU" sz="1800" dirty="0"/>
              <a:t>процессов выпадения гидратов в призабойной зоне скважин и оценки влияния на продуктивности</a:t>
            </a:r>
            <a:r>
              <a:rPr lang="en-US" sz="1800" dirty="0"/>
              <a:t>”, </a:t>
            </a:r>
            <a:r>
              <a:rPr lang="ru-RU" sz="1800" dirty="0"/>
              <a:t>сборник статей к конференции Высшей Школы нефти </a:t>
            </a:r>
            <a:r>
              <a:rPr lang="en-US" sz="1800" dirty="0"/>
              <a:t>“</a:t>
            </a:r>
            <a:r>
              <a:rPr lang="ru-RU" sz="1800" dirty="0"/>
              <a:t>Трудноизвлекаемые запасы нефти</a:t>
            </a:r>
            <a:r>
              <a:rPr lang="en-US" sz="1800" dirty="0"/>
              <a:t>”, </a:t>
            </a:r>
            <a:r>
              <a:rPr lang="ru-RU" sz="1800" dirty="0"/>
              <a:t>УДК 622.276</a:t>
            </a:r>
            <a:r>
              <a:rPr lang="en-US" sz="1800" dirty="0"/>
              <a:t>, </a:t>
            </a:r>
            <a:r>
              <a:rPr lang="ru-RU" sz="1800" dirty="0"/>
              <a:t>ББК 33.361</a:t>
            </a:r>
            <a:r>
              <a:rPr lang="en-US" sz="1800" dirty="0"/>
              <a:t>, T72</a:t>
            </a:r>
          </a:p>
          <a:p>
            <a:pPr marL="457200" indent="-457200" algn="l">
              <a:spcBef>
                <a:spcPts val="600"/>
              </a:spcBef>
              <a:buFont typeface="+mj-lt"/>
              <a:buAutoNum type="arabicPeriod"/>
            </a:pPr>
            <a:r>
              <a:rPr lang="en-US" sz="1800" dirty="0"/>
              <a:t>“</a:t>
            </a:r>
            <a:r>
              <a:rPr lang="ru-RU" sz="1800" dirty="0"/>
              <a:t>Разработка методики моделирования процессов выпадения гидратов в призабойной зоне скважин и оценке влияния на продуктивность</a:t>
            </a:r>
            <a:r>
              <a:rPr lang="en-US" sz="1800" dirty="0"/>
              <a:t>”, </a:t>
            </a:r>
            <a:r>
              <a:rPr lang="ru-RU" sz="1800" dirty="0"/>
              <a:t>Трудноизвлекаемые запасы нефти: материалы ежегодной международной конференции (г. Альметьевск, 24 сентября 2025 года) [Электронный ресурс] / под редакцией Дьяконова А.А. – Альметьевск: АГТУ ВШН, 2025. – 412 с.</a:t>
            </a:r>
          </a:p>
        </p:txBody>
      </p: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2A9A5971-5C17-2E0B-9ED7-6C7B8119562D}"/>
              </a:ext>
            </a:extLst>
          </p:cNvPr>
          <p:cNvSpPr txBox="1">
            <a:spLocks/>
          </p:cNvSpPr>
          <p:nvPr/>
        </p:nvSpPr>
        <p:spPr>
          <a:xfrm>
            <a:off x="545912" y="3664424"/>
            <a:ext cx="10693400" cy="2241883"/>
          </a:xfrm>
          <a:prstGeom prst="rect">
            <a:avLst/>
          </a:prstGeom>
        </p:spPr>
        <p:txBody>
          <a:bodyPr vert="horz" lIns="104306" tIns="52153" rIns="104306" bIns="52153" rtlCol="0">
            <a:no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600"/>
              </a:spcBef>
            </a:pPr>
            <a:r>
              <a:rPr lang="ru-RU" sz="1800" dirty="0"/>
              <a:t>В процессе подготовки</a:t>
            </a:r>
            <a:r>
              <a:rPr lang="en-US" sz="1800" dirty="0"/>
              <a:t>:</a:t>
            </a:r>
          </a:p>
          <a:p>
            <a:pPr algn="l">
              <a:spcBef>
                <a:spcPts val="600"/>
              </a:spcBef>
            </a:pPr>
            <a:endParaRPr lang="ru-RU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AC1532-F573-1CF0-0CA2-FBB80ECBFF14}"/>
              </a:ext>
            </a:extLst>
          </p:cNvPr>
          <p:cNvSpPr txBox="1"/>
          <p:nvPr/>
        </p:nvSpPr>
        <p:spPr>
          <a:xfrm>
            <a:off x="270300" y="4117491"/>
            <a:ext cx="11739730" cy="1022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-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Обзорная статья на выбор проблематики исследовательской работы 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: “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Обзор прикладных задач и методов моделирования процессов тепломассопереноса в пласте при моделировании тепловых методов увеличение нефтеотдачи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”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580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/>
          <p:cNvSpPr txBox="1">
            <a:spLocks/>
          </p:cNvSpPr>
          <p:nvPr/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СПАСИБО ЗА ВНИМАНИЕ!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515" y="5782738"/>
            <a:ext cx="1598971" cy="706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2657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F2C8-6609-8CC7-123E-B630BC2F1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6DF8575-5138-3189-DD24-A5CD82D63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276F68AB-34F9-A971-2974-26BFA19A2F71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DA79BD65-DE36-6B2C-B18C-7500C22BFA47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77500" lnSpcReduction="2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 err="1">
                <a:latin typeface="Fira Sans Bold"/>
              </a:rPr>
              <a:t>Интеграоьная</a:t>
            </a:r>
            <a:r>
              <a:rPr lang="ru-RU" sz="2400" b="1" dirty="0">
                <a:latin typeface="Fira Sans Bold"/>
              </a:rPr>
              <a:t> форма для закона сохранения энергии</a:t>
            </a:r>
          </a:p>
        </p:txBody>
      </p:sp>
      <p:pic>
        <p:nvPicPr>
          <p:cNvPr id="13" name="Рисунок 12" descr="Изображение выглядит как текст, Шрифт, снимок экрана, рукописный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B8A79A-9F93-2BA7-B9D4-DC890DEFA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7510" y="982530"/>
            <a:ext cx="7690291" cy="503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4340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10350-AA83-14AE-A455-F18BC4613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D03577-34AB-BC46-51A2-E8C74366E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B57FF199-B386-7F8E-FF4B-4DD452622B93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A17D52C8-B7FE-A997-5637-039DC5991299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 fontScale="85000" lnSpcReduction="10000"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Интегральная форма для закона сохранения массы</a:t>
            </a:r>
          </a:p>
        </p:txBody>
      </p:sp>
      <p:pic>
        <p:nvPicPr>
          <p:cNvPr id="5" name="Рисунок 4" descr="Изображение выглядит как текст, Шрифт, рукописный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B14EF48-9C12-ED34-C069-D06069FD6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147" y="805251"/>
            <a:ext cx="6056918" cy="528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01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C4F04-0937-A3AF-D0FF-35B7588D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0BAA7DA-7F09-4C5A-4044-1198261E5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C040DB8-064E-AC5C-CC6D-B1A9750E7934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653E5467-5782-796B-36C7-E5FD55E825E6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7FADF-ADAE-B4AA-4D6C-90B9BAB39BEB}"/>
              </a:ext>
            </a:extLst>
          </p:cNvPr>
          <p:cNvSpPr txBox="1"/>
          <p:nvPr/>
        </p:nvSpPr>
        <p:spPr>
          <a:xfrm>
            <a:off x="1055299" y="6142864"/>
            <a:ext cx="1829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2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7CED94-CCAE-2237-5CCD-627222A3A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65" y="1117491"/>
            <a:ext cx="11245756" cy="440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5705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56E9D-AF8E-BC45-08E0-2D4CCA16A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05A50B8-2B30-30EA-B972-98F8F76E5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222" y="6213254"/>
            <a:ext cx="1057557" cy="467471"/>
          </a:xfrm>
          <a:prstGeom prst="rect">
            <a:avLst/>
          </a:prstGeom>
        </p:spPr>
      </p:pic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0407FF71-7B9C-9756-C320-81349170A1FB}"/>
              </a:ext>
            </a:extLst>
          </p:cNvPr>
          <p:cNvCxnSpPr/>
          <p:nvPr/>
        </p:nvCxnSpPr>
        <p:spPr>
          <a:xfrm>
            <a:off x="0" y="617517"/>
            <a:ext cx="12192000" cy="0"/>
          </a:xfrm>
          <a:prstGeom prst="line">
            <a:avLst/>
          </a:prstGeom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одзаголовок 2">
            <a:extLst>
              <a:ext uri="{FF2B5EF4-FFF2-40B4-BE49-F238E27FC236}">
                <a16:creationId xmlns:a16="http://schemas.microsoft.com/office/drawing/2014/main" id="{3C569CDE-D0AB-679C-F74D-135216EF8818}"/>
              </a:ext>
            </a:extLst>
          </p:cNvPr>
          <p:cNvSpPr txBox="1">
            <a:spLocks/>
          </p:cNvSpPr>
          <p:nvPr/>
        </p:nvSpPr>
        <p:spPr>
          <a:xfrm>
            <a:off x="261023" y="102379"/>
            <a:ext cx="6582408" cy="515138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>
            <a:lvl1pPr marL="0" indent="0" algn="ctr" defTabSz="1043056" rtl="0" eaLnBrk="1" latinLnBrk="0" hangingPunct="1">
              <a:lnSpc>
                <a:spcPct val="90000"/>
              </a:lnSpc>
              <a:spcBef>
                <a:spcPts val="1141"/>
              </a:spcBef>
              <a:buFont typeface="Arial" panose="020B0604020202020204" pitchFamily="34" charset="0"/>
              <a:buNone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2152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4305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6458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86112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07640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29168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0696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72224" indent="0" algn="ctr" defTabSz="1043056" rtl="0" eaLnBrk="1" latinLnBrk="0" hangingPunct="1">
              <a:lnSpc>
                <a:spcPct val="90000"/>
              </a:lnSpc>
              <a:spcBef>
                <a:spcPts val="57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400" b="1" dirty="0">
                <a:latin typeface="Fira Sans Bold"/>
              </a:rPr>
              <a:t>Архитектура программного комплекса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C26DC4-48E5-0987-A453-1EE55B0A1922}"/>
              </a:ext>
            </a:extLst>
          </p:cNvPr>
          <p:cNvSpPr txBox="1"/>
          <p:nvPr/>
        </p:nvSpPr>
        <p:spPr>
          <a:xfrm>
            <a:off x="1014356" y="6286759"/>
            <a:ext cx="18468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Диаграмма </a:t>
            </a:r>
            <a:r>
              <a:rPr lang="en-US" sz="1600" dirty="0"/>
              <a:t>C</a:t>
            </a:r>
            <a:r>
              <a:rPr lang="ru-RU" sz="1600" dirty="0"/>
              <a:t>3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2F88BCA-CDFA-451B-B2DB-FE89A4042A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722" y="669275"/>
            <a:ext cx="11354937" cy="549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92759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1547</Words>
  <Application>Microsoft Office PowerPoint</Application>
  <PresentationFormat>Широкоэкранный</PresentationFormat>
  <Paragraphs>130</Paragraphs>
  <Slides>22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33" baseType="lpstr">
      <vt:lpstr>Aptos</vt:lpstr>
      <vt:lpstr>Arial</vt:lpstr>
      <vt:lpstr>Book Antiqua</vt:lpstr>
      <vt:lpstr>Calibri</vt:lpstr>
      <vt:lpstr>Calibri Light</vt:lpstr>
      <vt:lpstr>Cambria Math</vt:lpstr>
      <vt:lpstr>Fira Sans Bold</vt:lpstr>
      <vt:lpstr>Fira Sans ExtraLight</vt:lpstr>
      <vt:lpstr>Symbol</vt:lpstr>
      <vt:lpstr>Times New Roman</vt:lpstr>
      <vt:lpstr>Тема Office</vt:lpstr>
      <vt:lpstr>Методика физико-математического моделирования процессов тепломассопереноса в пластах с условиями образования гидратов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Мищенко Олег Юрьевич</dc:creator>
  <cp:lastModifiedBy>Alxndr Klbk</cp:lastModifiedBy>
  <cp:revision>29</cp:revision>
  <dcterms:created xsi:type="dcterms:W3CDTF">2021-01-25T10:59:14Z</dcterms:created>
  <dcterms:modified xsi:type="dcterms:W3CDTF">2025-12-14T20:22:50Z</dcterms:modified>
</cp:coreProperties>
</file>