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8" r:id="rId2"/>
    <p:sldId id="257" r:id="rId3"/>
    <p:sldId id="260" r:id="rId4"/>
    <p:sldId id="261" r:id="rId5"/>
    <p:sldId id="262" r:id="rId6"/>
    <p:sldId id="263" r:id="rId7"/>
    <p:sldId id="272" r:id="rId8"/>
    <p:sldId id="281" r:id="rId9"/>
    <p:sldId id="282" r:id="rId10"/>
    <p:sldId id="280" r:id="rId11"/>
    <p:sldId id="283" r:id="rId12"/>
    <p:sldId id="284" r:id="rId13"/>
    <p:sldId id="264" r:id="rId14"/>
    <p:sldId id="266" r:id="rId15"/>
    <p:sldId id="268" r:id="rId16"/>
    <p:sldId id="269" r:id="rId17"/>
    <p:sldId id="270" r:id="rId18"/>
    <p:sldId id="279" r:id="rId19"/>
    <p:sldId id="271" r:id="rId20"/>
    <p:sldId id="276" r:id="rId21"/>
    <p:sldId id="277" r:id="rId22"/>
    <p:sldId id="278" r:id="rId23"/>
    <p:sldId id="274" r:id="rId24"/>
    <p:sldId id="275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C49C6E-035B-4F70-8000-D874F4F10440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639B07-DCF8-4AEE-94B7-EF3F9B6EE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3224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05B3-F41B-427C-80BB-A688A6689C6B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23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1C2D5-ED12-4B99-A8E1-39CA7FB09485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811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73428-08DD-4DB4-806D-52136AFA4210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643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317D-EE05-422C-8BD5-2E1731177917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927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C2390-4B9D-445F-87EF-CDCBAC486F90}" type="datetime1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276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E28B-29F8-4405-84BD-18E16F5BB3A1}" type="datetime1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853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3E67-4852-467E-B482-C068760DAEDE}" type="datetime1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60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71C97-312D-4E09-923E-7FA261204C8D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075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990-6714-4880-ABDC-58C72C70B6FE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415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B4B7-56F2-447E-9729-4D33381F345C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184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A6E2F-A8A2-4938-9AC0-DAFE7B1245A6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577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EE296-6673-4508-83F2-1D7CAC52A998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B7048-13AE-42EF-977F-20BE1693D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261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28" y="391588"/>
            <a:ext cx="1598971" cy="70679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C939E2-E6FD-600D-586E-BBCDCF209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9784" y="3485271"/>
            <a:ext cx="10037285" cy="1392921"/>
          </a:xfrm>
        </p:spPr>
        <p:txBody>
          <a:bodyPr>
            <a:noAutofit/>
          </a:bodyPr>
          <a:lstStyle/>
          <a:p>
            <a:pPr algn="l"/>
            <a:r>
              <a:rPr lang="ru-RU" sz="3800" dirty="0">
                <a:latin typeface="Fira Sans ExtraLight" panose="020B0403050000020004" pitchFamily="34" charset="0"/>
              </a:rPr>
              <a:t>Развитие математических методов моделирования в задачах тепломассопереноса: численных и аналитических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A5A6282-6E96-07B7-C20D-2D0ED91FE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785" y="5347538"/>
            <a:ext cx="9459271" cy="863562"/>
          </a:xfrm>
        </p:spPr>
        <p:txBody>
          <a:bodyPr>
            <a:noAutofit/>
          </a:bodyPr>
          <a:lstStyle/>
          <a:p>
            <a:pPr algn="l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Колбеко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А.Б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Ганопольский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Р.М.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9D81DCB-18E5-833A-9113-13990706D144}"/>
              </a:ext>
            </a:extLst>
          </p:cNvPr>
          <p:cNvCxnSpPr/>
          <p:nvPr/>
        </p:nvCxnSpPr>
        <p:spPr>
          <a:xfrm>
            <a:off x="1108452" y="5044440"/>
            <a:ext cx="558952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9491C75-6F7D-91B5-E03B-40FCDBA29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55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/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1"/>
          <p:cNvSpPr txBox="1">
            <a:spLocks/>
          </p:cNvSpPr>
          <p:nvPr/>
        </p:nvSpPr>
        <p:spPr>
          <a:xfrm>
            <a:off x="301124" y="131506"/>
            <a:ext cx="7325803" cy="2328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Актуальность проблема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BEEB70D-F326-5285-61B9-3BD1379EDC90}"/>
              </a:ext>
            </a:extLst>
          </p:cNvPr>
          <p:cNvSpPr txBox="1">
            <a:spLocks/>
          </p:cNvSpPr>
          <p:nvPr/>
        </p:nvSpPr>
        <p:spPr>
          <a:xfrm>
            <a:off x="301124" y="709411"/>
            <a:ext cx="9783667" cy="948430"/>
          </a:xfrm>
          <a:prstGeom prst="rect">
            <a:avLst/>
          </a:prstGeom>
        </p:spPr>
        <p:txBody>
          <a:bodyPr vert="horz" lIns="104306" tIns="52153" rIns="104306" bIns="52153" rtlCol="0">
            <a:normAutofit fontScale="92500"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Вовлечение в разработку залежей с аномальными термобарическими условиями – актуальный вызов для нефтегазовой отрасли.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659C20-D0AE-75CF-2D85-1A5249796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495" y="1617511"/>
            <a:ext cx="5450872" cy="4049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C3AA89-6608-DFE6-34D3-9D703EC8C04E}"/>
              </a:ext>
            </a:extLst>
          </p:cNvPr>
          <p:cNvSpPr txBox="1"/>
          <p:nvPr/>
        </p:nvSpPr>
        <p:spPr>
          <a:xfrm>
            <a:off x="1418597" y="5609099"/>
            <a:ext cx="9354806" cy="568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Укрупненная группировка упоминаемых в публикациях месторождений на стратиграфической шкале (на основе материалов всероссийского научно-исследовательского геологического института им. А.П. Карпинского)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38482CC-0FD5-E005-49AA-3F19AC732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339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0836B-6C01-A0F5-285F-2A2F33E4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2CB7163-4614-03DF-DC26-3FF2F1085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6A43A9A-170F-3234-5CF1-DB0218E3E15F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0C02EEEB-960A-05BD-C320-DBD3EA188F99}"/>
              </a:ext>
            </a:extLst>
          </p:cNvPr>
          <p:cNvSpPr txBox="1">
            <a:spLocks/>
          </p:cNvSpPr>
          <p:nvPr/>
        </p:nvSpPr>
        <p:spPr>
          <a:xfrm>
            <a:off x="301124" y="131506"/>
            <a:ext cx="7325803" cy="2328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Проблема</a:t>
            </a:r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4E9F5C79-6820-9B18-44B9-8012B37BDA07}"/>
              </a:ext>
            </a:extLst>
          </p:cNvPr>
          <p:cNvSpPr txBox="1">
            <a:spLocks/>
          </p:cNvSpPr>
          <p:nvPr/>
        </p:nvSpPr>
        <p:spPr>
          <a:xfrm>
            <a:off x="150321" y="910678"/>
            <a:ext cx="11021261" cy="5036643"/>
          </a:xfrm>
          <a:prstGeom prst="rect">
            <a:avLst/>
          </a:prstGeom>
        </p:spPr>
        <p:txBody>
          <a:bodyPr vert="horz" lIns="104306" tIns="52153" rIns="104306" bIns="52153" rtlCol="0">
            <a:no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800" b="1" dirty="0"/>
              <a:t>Традиционные методы моделирования разработки</a:t>
            </a:r>
            <a:r>
              <a:rPr lang="en-US" sz="1800" b="1" dirty="0"/>
              <a:t>:</a:t>
            </a:r>
            <a:endParaRPr lang="ru-RU" sz="1800" b="1" dirty="0"/>
          </a:p>
          <a:p>
            <a:pPr marL="342900" indent="-342900" algn="just">
              <a:buFontTx/>
              <a:buChar char="-"/>
            </a:pPr>
            <a:r>
              <a:rPr lang="ru-RU" sz="1800" dirty="0"/>
              <a:t>Гидродинамическое моделирование (</a:t>
            </a:r>
            <a:r>
              <a:rPr lang="en-US" sz="1800" dirty="0"/>
              <a:t>Black Oil)</a:t>
            </a:r>
            <a:endParaRPr lang="ru-RU" sz="1800" dirty="0"/>
          </a:p>
          <a:p>
            <a:pPr marL="342900" indent="-342900" algn="just">
              <a:buFontTx/>
              <a:buChar char="-"/>
            </a:pPr>
            <a:r>
              <a:rPr lang="ru-RU" sz="1800" dirty="0"/>
              <a:t>Гидродинамическое моделирование (</a:t>
            </a:r>
            <a:r>
              <a:rPr lang="en-US" sz="1800" dirty="0"/>
              <a:t>Compositional model)</a:t>
            </a:r>
            <a:endParaRPr lang="ru-RU" sz="1800" dirty="0"/>
          </a:p>
          <a:p>
            <a:pPr marL="342900" indent="-342900" algn="just">
              <a:buFontTx/>
              <a:buChar char="-"/>
            </a:pPr>
            <a:r>
              <a:rPr lang="ru-RU" sz="1800" dirty="0"/>
              <a:t>Прокси-модели (</a:t>
            </a:r>
            <a:r>
              <a:rPr lang="en-US" sz="1800" dirty="0"/>
              <a:t>material balance, ARCHER</a:t>
            </a:r>
            <a:r>
              <a:rPr lang="ru-RU" sz="1800" dirty="0"/>
              <a:t>)</a:t>
            </a:r>
          </a:p>
          <a:p>
            <a:pPr marL="342900" indent="-342900" algn="just">
              <a:buFontTx/>
              <a:buChar char="-"/>
            </a:pPr>
            <a:r>
              <a:rPr lang="ru-RU" sz="1800" dirty="0"/>
              <a:t>Модели на основе линий тока </a:t>
            </a:r>
            <a:r>
              <a:rPr lang="en-US" sz="1800" dirty="0"/>
              <a:t>(streamline-based simulators)</a:t>
            </a:r>
            <a:endParaRPr lang="ru-RU" sz="1800" dirty="0"/>
          </a:p>
          <a:p>
            <a:pPr algn="just"/>
            <a:endParaRPr lang="en-US" sz="1800" dirty="0"/>
          </a:p>
          <a:p>
            <a:pPr algn="just"/>
            <a:r>
              <a:rPr lang="ru-RU" sz="1800" b="1" dirty="0"/>
              <a:t>Прикладная проблема</a:t>
            </a:r>
            <a:r>
              <a:rPr lang="en-US" sz="1800" dirty="0"/>
              <a:t>: </a:t>
            </a:r>
            <a:r>
              <a:rPr lang="ru-RU" sz="1800" dirty="0"/>
              <a:t>эксплуатация скважин на месторождениях с аномальными пластовыми давлениями и температурами сопровождается вынужденными остановками для проведения ГТМ обработок ПЗП от газовых гидратов</a:t>
            </a:r>
            <a:r>
              <a:rPr lang="en-US" sz="1800" dirty="0"/>
              <a:t>, </a:t>
            </a:r>
            <a:r>
              <a:rPr lang="ru-RU" sz="1800" dirty="0"/>
              <a:t>что снижает рентабельность и вызывает дополнительные операционные расходы.</a:t>
            </a:r>
          </a:p>
          <a:p>
            <a:pPr algn="just"/>
            <a:r>
              <a:rPr lang="ru-RU" sz="1800" b="1" dirty="0"/>
              <a:t>Научная проблема</a:t>
            </a:r>
            <a:r>
              <a:rPr lang="en-US" sz="1800" b="1" dirty="0"/>
              <a:t>:</a:t>
            </a:r>
            <a:r>
              <a:rPr lang="ru-RU" sz="1800" b="1" dirty="0"/>
              <a:t> </a:t>
            </a:r>
            <a:r>
              <a:rPr lang="ru-RU" sz="1800" dirty="0"/>
              <a:t>Существующие физико-математических</a:t>
            </a:r>
            <a:r>
              <a:rPr lang="ru-RU" sz="1800" b="1" dirty="0"/>
              <a:t> </a:t>
            </a:r>
            <a:r>
              <a:rPr lang="ru-RU" sz="1800" dirty="0"/>
              <a:t>модели</a:t>
            </a:r>
            <a:r>
              <a:rPr lang="en-US" sz="1800" dirty="0"/>
              <a:t>, </a:t>
            </a:r>
            <a:r>
              <a:rPr lang="ru-RU" sz="1800" dirty="0"/>
              <a:t>алгоритмы</a:t>
            </a:r>
            <a:r>
              <a:rPr lang="en-US" sz="1800" dirty="0"/>
              <a:t>, </a:t>
            </a:r>
            <a:r>
              <a:rPr lang="ru-RU" sz="1800" dirty="0"/>
              <a:t>программные комплексы не в полной мере позволяют достоверно моделировать процессы тепломассопереноса в газовых и газоконденсатных пластах с аномальными термобарическими условиями с учетом падения ФЭС призабойной зоны вследствие образования газовых гидратов.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22187ED-ACDA-3ECD-065E-A0C3281D6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935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037E0-E0A8-7CD8-8381-057E63B82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AF95DF-DE31-F551-6406-11F6A7766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B859BA6-A153-4967-D64D-9855C3E11E0B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2555F9-D886-804F-F396-559923D179E4}"/>
              </a:ext>
            </a:extLst>
          </p:cNvPr>
          <p:cNvSpPr txBox="1">
            <a:spLocks/>
          </p:cNvSpPr>
          <p:nvPr/>
        </p:nvSpPr>
        <p:spPr>
          <a:xfrm>
            <a:off x="228165" y="102379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Цели и задачи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9D9270E3-86D7-E209-47C4-E6B91D1E8B9A}"/>
              </a:ext>
            </a:extLst>
          </p:cNvPr>
          <p:cNvSpPr txBox="1">
            <a:spLocks/>
          </p:cNvSpPr>
          <p:nvPr/>
        </p:nvSpPr>
        <p:spPr>
          <a:xfrm>
            <a:off x="395785" y="733328"/>
            <a:ext cx="10693400" cy="2979251"/>
          </a:xfrm>
          <a:prstGeom prst="rect">
            <a:avLst/>
          </a:prstGeom>
        </p:spPr>
        <p:txBody>
          <a:bodyPr vert="horz" lIns="104306" tIns="52153" rIns="104306" bIns="52153" rtlCol="0">
            <a:no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algn="l">
              <a:spcBef>
                <a:spcPts val="600"/>
              </a:spcBef>
            </a:pPr>
            <a:r>
              <a:rPr lang="ru-RU" sz="1800" b="1" dirty="0"/>
              <a:t>Цель</a:t>
            </a:r>
            <a:r>
              <a:rPr lang="en-US" sz="1800" dirty="0"/>
              <a:t>: </a:t>
            </a:r>
            <a:r>
              <a:rPr lang="ru-RU" sz="1800" dirty="0"/>
              <a:t>Исследовать, разработать и </a:t>
            </a:r>
            <a:r>
              <a:rPr lang="ru-RU" sz="1800" dirty="0" err="1"/>
              <a:t>программно</a:t>
            </a:r>
            <a:r>
              <a:rPr lang="ru-RU" sz="1800" dirty="0"/>
              <a:t> реализовать метод для моделирования процессов тепломассопереноса в газовых и газоконденсатных пластах с аномальными термобарическими условиями с учетом падения ФЭС призабойной зоны за счет образования газовых гидратов</a:t>
            </a:r>
            <a:r>
              <a:rPr lang="en-US" sz="1800" dirty="0"/>
              <a:t>.</a:t>
            </a:r>
          </a:p>
          <a:p>
            <a:pPr indent="457200" algn="l">
              <a:spcBef>
                <a:spcPts val="600"/>
              </a:spcBef>
            </a:pPr>
            <a:r>
              <a:rPr lang="ru-RU" sz="1800" b="1" dirty="0"/>
              <a:t>Задачи</a:t>
            </a:r>
            <a:r>
              <a:rPr lang="en-US" sz="1800" dirty="0"/>
              <a:t>:</a:t>
            </a:r>
            <a:endParaRPr lang="ru-RU" sz="1800" dirty="0"/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Проведение численных экспериментов по моделированию работы скважин в залежах с аномальными термобарическими условиями с применением существующих программных комплексов.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Разработка метода физико-математического моделирования фильтрации с учетом образования газовых гидратов в призабойной зоне скважины.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Разработка программного комплекса для численного решение предлагаемой физико-математической модели.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Верификация разработанного программного комплекса путем моделирования динамики работы скважин и сопоставления с фактическими профилями добычи, существующими программными комплексами.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4C124EE-145B-36E0-D9C7-5D7058744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722" y="4418689"/>
            <a:ext cx="6408606" cy="1769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A8FA78C-350B-395E-900C-CFA8DB3BC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828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9E98F-86CD-A05C-521F-58FE5B286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60608C-4344-DEA4-FAEE-36CCD9073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3B1F3866-3787-32DC-16EB-6E4D121A2284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D87D75E4-59F2-883D-D271-F385C2058217}"/>
              </a:ext>
            </a:extLst>
          </p:cNvPr>
          <p:cNvSpPr txBox="1">
            <a:spLocks/>
          </p:cNvSpPr>
          <p:nvPr/>
        </p:nvSpPr>
        <p:spPr>
          <a:xfrm>
            <a:off x="42371" y="102379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Положения на защиту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9C85D-B1F2-D53F-B510-1566C8C44B6A}"/>
              </a:ext>
            </a:extLst>
          </p:cNvPr>
          <p:cNvSpPr txBox="1"/>
          <p:nvPr/>
        </p:nvSpPr>
        <p:spPr>
          <a:xfrm>
            <a:off x="214516" y="1135348"/>
            <a:ext cx="1122913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arenR"/>
            </a:pPr>
            <a:r>
              <a:rPr lang="ru-RU" sz="1800" dirty="0"/>
              <a:t>Метод математического моделирования процесса тепломассопереноса в газовых и газоконденсатных пластах с аномальными термобарическими условиями с учетом падения ФЭС призабойной зоны за счет образования газовых гидратов.</a:t>
            </a:r>
          </a:p>
          <a:p>
            <a:pPr marL="342900" indent="-342900" algn="just">
              <a:buAutoNum type="arabicParenR"/>
            </a:pPr>
            <a:endParaRPr lang="ru-RU" sz="1800" dirty="0"/>
          </a:p>
          <a:p>
            <a:pPr algn="just"/>
            <a:r>
              <a:rPr lang="ru-RU" sz="1800" dirty="0"/>
              <a:t>2) Метод численного решения системы описывающей процесс фильтрации пластового флюида с учетом вычисления фазового равновесия (совместно с дополнительными внутренними итерациями для шага решения системы ДУ с ЧП по определению термодинамического состояния пластового флюида и образования газового гидрата). </a:t>
            </a:r>
          </a:p>
          <a:p>
            <a:pPr algn="just"/>
            <a:endParaRPr lang="ru-RU" sz="1800" dirty="0"/>
          </a:p>
          <a:p>
            <a:pPr algn="just"/>
            <a:r>
              <a:rPr lang="ru-RU" dirty="0"/>
              <a:t>3)</a:t>
            </a:r>
            <a:r>
              <a:rPr lang="ru-RU" sz="1800" dirty="0"/>
              <a:t> Программный комплекс, реализующий предлагаемые методы для моделирования процессов тепломассопереноса с учетом фазового перехода пластовых флюидов в газовый гидрат</a:t>
            </a:r>
            <a:r>
              <a:rPr lang="en-US" sz="1800" dirty="0"/>
              <a:t>, </a:t>
            </a:r>
            <a:r>
              <a:rPr lang="ru-RU" sz="1800" dirty="0"/>
              <a:t>верификация результатов моделирования на прогноз с историческими данными работы скважин месторождения Х.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4) Метод математического моделирования изменения минерализации в призабойной зоне для учета влияния на термодинамическое равновесие пластового флюида и фазовые переходы в газовые гидраты.</a:t>
            </a:r>
            <a:endParaRPr lang="ru-RU" sz="18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91CC8CA-9B75-AFAF-3543-C34670B4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048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FBDE-B27C-3D81-E0C3-58BBBD1B4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5BA9476-7F56-1CF5-3CA6-6E95E63C5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B924B9A-C3B7-C081-B31E-9A265479E62C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2958401F-179E-0BC4-178A-C39A98A4CEE0}"/>
              </a:ext>
            </a:extLst>
          </p:cNvPr>
          <p:cNvSpPr txBox="1">
            <a:spLocks/>
          </p:cNvSpPr>
          <p:nvPr/>
        </p:nvSpPr>
        <p:spPr>
          <a:xfrm>
            <a:off x="139455" y="102379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Обзор существующих симуляторов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DAED5-88E8-8999-B2F0-BCFE16C424ED}"/>
              </a:ext>
            </a:extLst>
          </p:cNvPr>
          <p:cNvSpPr txBox="1"/>
          <p:nvPr/>
        </p:nvSpPr>
        <p:spPr>
          <a:xfrm>
            <a:off x="724602" y="5485509"/>
            <a:ext cx="102971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Основная функциональность между наиболее популярными гидродинамическими симуляторами совпадает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выделяется лишь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CMG</a:t>
            </a: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(доступ ограничен ввиду геополитических обстоятельств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Ввиду доступности лицензий и схожей функциональности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повсеместной распространенности выбор останавливается на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tNavigator</a:t>
            </a:r>
            <a:endParaRPr lang="ru-RU" sz="1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13">
            <a:extLst>
              <a:ext uri="{FF2B5EF4-FFF2-40B4-BE49-F238E27FC236}">
                <a16:creationId xmlns:a16="http://schemas.microsoft.com/office/drawing/2014/main" id="{13C0D0C4-617A-5321-3B3C-5D767AEB2B85}"/>
              </a:ext>
            </a:extLst>
          </p:cNvPr>
          <p:cNvSpPr/>
          <p:nvPr/>
        </p:nvSpPr>
        <p:spPr>
          <a:xfrm flipH="1">
            <a:off x="332290" y="5277847"/>
            <a:ext cx="28803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106515">
              <a:defRPr/>
            </a:pPr>
            <a:r>
              <a:rPr lang="ru-RU" sz="8000" kern="0" dirty="0">
                <a:solidFill>
                  <a:srgbClr val="EB6C15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!</a:t>
            </a:r>
            <a:endParaRPr lang="en-US" sz="8000" kern="0" dirty="0">
              <a:solidFill>
                <a:srgbClr val="EB6C15"/>
              </a:solidFill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C892B82-91DD-D9D8-BD71-703591928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52285"/>
              </p:ext>
            </p:extLst>
          </p:nvPr>
        </p:nvGraphicFramePr>
        <p:xfrm>
          <a:off x="1151306" y="748103"/>
          <a:ext cx="9086822" cy="4661284"/>
        </p:xfrm>
        <a:graphic>
          <a:graphicData uri="http://schemas.openxmlformats.org/drawingml/2006/table">
            <a:tbl>
              <a:tblPr firstRow="1" firstCol="1" bandRow="1"/>
              <a:tblGrid>
                <a:gridCol w="3265791">
                  <a:extLst>
                    <a:ext uri="{9D8B030D-6E8A-4147-A177-3AD203B41FA5}">
                      <a16:colId xmlns:a16="http://schemas.microsoft.com/office/drawing/2014/main" val="3741022965"/>
                    </a:ext>
                  </a:extLst>
                </a:gridCol>
                <a:gridCol w="5821031">
                  <a:extLst>
                    <a:ext uri="{9D8B030D-6E8A-4147-A177-3AD203B41FA5}">
                      <a16:colId xmlns:a16="http://schemas.microsoft.com/office/drawing/2014/main" val="3130768282"/>
                    </a:ext>
                  </a:extLst>
                </a:gridCol>
              </a:tblGrid>
              <a:tr h="184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3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симулятора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Поддержка моделей и методов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921043"/>
                  </a:ext>
                </a:extLst>
              </a:tr>
              <a:tr h="957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ECLIPSE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 поддержка моделей двойной пористости и двойной проницаемости, моделирование взаимодействия между матрицей и трещинами через параметры обмена флюидами, тепловые методы воздействия SAGD,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VAPEX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BUTEX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ISC, 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позволяет определяют условия стабильности газовых гидратов.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854830"/>
                  </a:ext>
                </a:extLst>
              </a:tr>
              <a:tr h="12897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CMG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 поддержка моделей двойной пористости и проницаемости, возможность моделирования трещиноватых коллекторов, включая естественную и индуцированную трещиноватость, тепловые методы воздействия SAGD,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VAPEX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BUTEX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ISC, 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сложные задачи с моделирование термальных процессов (специфика сланцевых залежей Канады)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Вычисление условий, при которых гидраты могут образовываться в призабойной зоне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условия накопления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но нет учета влияния на проницаемость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188370"/>
                  </a:ext>
                </a:extLst>
              </a:tr>
              <a:tr h="11277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ru-RU" sz="13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tNavigator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 высокопроизводительный решатель для больших моделей месторождений, полная поддержка моделей DP-DK, есть возможность работы с трещинами различной природы (естественные, гидроразрыв пласта), тепловые методы воздействия SAGD,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VAPEX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BUTEX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ISC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индикация </a:t>
                      </a:r>
                      <a:r>
                        <a:rPr lang="ru-RU" sz="13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гидратобразования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132830"/>
                  </a:ext>
                </a:extLst>
              </a:tr>
              <a:tr h="206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Tempest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Специализация на моделировании пластовых систем с акцентом на интеграцию с геологическими моделями (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Roxar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RMS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Поддерживает модель “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Black Oil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", Композиционные модели и различные термические процессы (так же).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базовыми возможностями, такими как учет термодинамических условий и простых моделей блокировки потока</a:t>
                      </a: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888167"/>
                  </a:ext>
                </a:extLst>
              </a:tr>
            </a:tbl>
          </a:graphicData>
        </a:graphic>
      </p:graphicFrame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0A6CA42B-1ECA-96FA-5D8C-E7F46ED3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530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577D8-F39C-632B-9057-B7CA32DDD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E8B39-E833-02A0-81FE-86D29537A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3349525B-F241-6AA6-E26A-16404FD9563B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E15540E4-7740-43A6-8B60-7D77C72154DA}"/>
              </a:ext>
            </a:extLst>
          </p:cNvPr>
          <p:cNvSpPr txBox="1">
            <a:spLocks/>
          </p:cNvSpPr>
          <p:nvPr/>
        </p:nvSpPr>
        <p:spPr>
          <a:xfrm>
            <a:off x="139454" y="82500"/>
            <a:ext cx="9004545" cy="464004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План эксперимента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3FDA8B-1EA1-6BF3-C133-187A307F6F06}"/>
              </a:ext>
            </a:extLst>
          </p:cNvPr>
          <p:cNvSpPr txBox="1"/>
          <p:nvPr/>
        </p:nvSpPr>
        <p:spPr>
          <a:xfrm>
            <a:off x="298999" y="1128380"/>
            <a:ext cx="112291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arenR"/>
            </a:pPr>
            <a:r>
              <a:rPr lang="ru-RU" sz="1800" dirty="0"/>
              <a:t>Валидация и отбор скважин с аномальными кривыми продуктивности</a:t>
            </a:r>
          </a:p>
          <a:p>
            <a:pPr algn="just"/>
            <a:r>
              <a:rPr lang="ru-RU" sz="1800" dirty="0"/>
              <a:t>2)</a:t>
            </a:r>
            <a:r>
              <a:rPr lang="ru-RU" dirty="0"/>
              <a:t> </a:t>
            </a:r>
            <a:r>
              <a:rPr lang="ru-RU" sz="1800" dirty="0"/>
              <a:t> Подготовка секторных моделей для целевых скважин</a:t>
            </a:r>
            <a:r>
              <a:rPr lang="ru-RU" dirty="0"/>
              <a:t> в симуляторе</a:t>
            </a:r>
            <a:endParaRPr lang="ru-RU" sz="1800" dirty="0"/>
          </a:p>
          <a:p>
            <a:pPr algn="just"/>
            <a:r>
              <a:rPr lang="ru-RU" sz="1800" dirty="0"/>
              <a:t>3) Воспроизведение режима работы скважины в соответствии с ГДИ (</a:t>
            </a:r>
            <a:r>
              <a:rPr lang="en-US" sz="1800" dirty="0"/>
              <a:t>rate-control</a:t>
            </a:r>
            <a:r>
              <a:rPr lang="ru-RU" sz="1800" dirty="0"/>
              <a:t>)</a:t>
            </a:r>
            <a:r>
              <a:rPr lang="en-US" sz="1800" dirty="0"/>
              <a:t> </a:t>
            </a:r>
            <a:r>
              <a:rPr lang="ru-RU" sz="1800" dirty="0"/>
              <a:t>для скважины</a:t>
            </a:r>
            <a:r>
              <a:rPr lang="en-US" sz="1800" dirty="0"/>
              <a:t>, </a:t>
            </a:r>
            <a:r>
              <a:rPr lang="ru-RU" sz="1800" dirty="0"/>
              <a:t>вычисление  расчётного забойного давления</a:t>
            </a:r>
          </a:p>
          <a:p>
            <a:pPr algn="just"/>
            <a:r>
              <a:rPr lang="ru-RU" sz="1800" dirty="0"/>
              <a:t>4) Анализ результатов</a:t>
            </a:r>
            <a:r>
              <a:rPr lang="en-US" sz="1800" dirty="0"/>
              <a:t>, </a:t>
            </a:r>
            <a:r>
              <a:rPr lang="ru-RU" sz="1800" dirty="0"/>
              <a:t>выводы о применимости симулятора для скважин месторождения Х.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34E593F-6CFA-BF94-427E-28C2BD2E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3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551D-A7D3-E98D-08B9-107EFEDDA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271134-98DE-F0B9-787B-E9214353E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E1B2B35-BC58-2F42-AA14-4919780C4728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99E02B29-5C20-269E-4D6D-F4715F3F8E75}"/>
              </a:ext>
            </a:extLst>
          </p:cNvPr>
          <p:cNvSpPr txBox="1">
            <a:spLocks/>
          </p:cNvSpPr>
          <p:nvPr/>
        </p:nvSpPr>
        <p:spPr>
          <a:xfrm>
            <a:off x="139454" y="102379"/>
            <a:ext cx="9004545" cy="464004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Анализ исходных данных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5B526CC-71DE-AF65-C090-10A643B4F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3" y="2695345"/>
            <a:ext cx="3534252" cy="2604617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60492E7-3804-7429-82A1-59B762004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396" y="2695345"/>
            <a:ext cx="3534252" cy="2604616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5824BE-B43B-5E5E-30F1-8E16ECBCA34D}"/>
              </a:ext>
            </a:extLst>
          </p:cNvPr>
          <p:cNvSpPr txBox="1"/>
          <p:nvPr/>
        </p:nvSpPr>
        <p:spPr>
          <a:xfrm>
            <a:off x="218440" y="1000764"/>
            <a:ext cx="114749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arenR"/>
            </a:pPr>
            <a:r>
              <a:rPr lang="ru-RU" dirty="0"/>
              <a:t>Тип исследования происходит уменьшение диаметра устьевого штуцера</a:t>
            </a:r>
            <a:r>
              <a:rPr lang="en-US" dirty="0"/>
              <a:t>, </a:t>
            </a:r>
            <a:r>
              <a:rPr lang="ru-RU" dirty="0"/>
              <a:t>отработки скважины на режимах от 3 до 34 часов.</a:t>
            </a:r>
          </a:p>
          <a:p>
            <a:pPr algn="just"/>
            <a:r>
              <a:rPr lang="ru-RU" dirty="0"/>
              <a:t>2) На основе данных ГДИ строится кривая продуктивности</a:t>
            </a:r>
          </a:p>
          <a:p>
            <a:pPr algn="just"/>
            <a:r>
              <a:rPr lang="ru-RU" dirty="0"/>
              <a:t>3) Скважины с аномальным поведением кривой – кандидаты.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0220F1-280F-5411-EC71-B030D7B22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4050" y="2684814"/>
            <a:ext cx="3548538" cy="2615145"/>
          </a:xfrm>
          <a:prstGeom prst="rect">
            <a:avLst/>
          </a:prstGeom>
          <a:ln>
            <a:solidFill>
              <a:srgbClr val="FFC000"/>
            </a:solidFill>
          </a:ln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975B29B-403D-9933-BBF7-F9A07A99A16D}"/>
              </a:ext>
            </a:extLst>
          </p:cNvPr>
          <p:cNvCxnSpPr/>
          <p:nvPr/>
        </p:nvCxnSpPr>
        <p:spPr>
          <a:xfrm>
            <a:off x="4831773" y="3065318"/>
            <a:ext cx="3012875" cy="187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75F27223-1489-76E1-B832-D74F01A42448}"/>
              </a:ext>
            </a:extLst>
          </p:cNvPr>
          <p:cNvCxnSpPr>
            <a:cxnSpLocks/>
          </p:cNvCxnSpPr>
          <p:nvPr/>
        </p:nvCxnSpPr>
        <p:spPr>
          <a:xfrm>
            <a:off x="6421582" y="3127664"/>
            <a:ext cx="1288473" cy="363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009B8EC3-837B-25AF-9AB6-6A5D1CFA1A1E}"/>
              </a:ext>
            </a:extLst>
          </p:cNvPr>
          <p:cNvCxnSpPr>
            <a:cxnSpLocks/>
          </p:cNvCxnSpPr>
          <p:nvPr/>
        </p:nvCxnSpPr>
        <p:spPr>
          <a:xfrm>
            <a:off x="8879032" y="3252355"/>
            <a:ext cx="2473036" cy="176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EFF96F1D-3B8E-6D6B-BECF-ECC21DCC5BED}"/>
              </a:ext>
            </a:extLst>
          </p:cNvPr>
          <p:cNvCxnSpPr>
            <a:cxnSpLocks/>
          </p:cNvCxnSpPr>
          <p:nvPr/>
        </p:nvCxnSpPr>
        <p:spPr>
          <a:xfrm>
            <a:off x="10416886" y="3304309"/>
            <a:ext cx="1080655" cy="368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E315BB-7C9D-ED93-1A59-C0B6B4CB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649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F42E9-E556-11B4-B621-3AE18688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C73E72-8B46-F000-A79A-ECCAA4EB4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5DBC4EB6-9CAC-05C3-8FB7-59689223D867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BAB75DE1-753A-3CB6-D7C5-E5D910E9CA07}"/>
              </a:ext>
            </a:extLst>
          </p:cNvPr>
          <p:cNvSpPr txBox="1">
            <a:spLocks/>
          </p:cNvSpPr>
          <p:nvPr/>
        </p:nvSpPr>
        <p:spPr>
          <a:xfrm>
            <a:off x="139454" y="82500"/>
            <a:ext cx="9004545" cy="464004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Анализ исходных данных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6015A64-D818-CCBD-A1AC-15273EA88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91" y="1162311"/>
            <a:ext cx="3097086" cy="2282441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3BF5FBF-00FD-E266-A106-3D0C9CF2F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6152" y="1111731"/>
            <a:ext cx="3131233" cy="230760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7989527-E941-BFA7-3A67-828AAD9F9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1229" y="1152648"/>
            <a:ext cx="3075710" cy="2266689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5C6A8C9-F1B2-7B0D-5441-6B0BE95BBB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20" y="3647663"/>
            <a:ext cx="3144357" cy="231727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9EC0496-7FDA-023C-8554-DC3BC91576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6152" y="3622220"/>
            <a:ext cx="3178881" cy="234272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4EFD3F-23B5-CC69-51CF-00E5145AD2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9693" y="3593360"/>
            <a:ext cx="3257200" cy="2400439"/>
          </a:xfrm>
          <a:prstGeom prst="rect">
            <a:avLst/>
          </a:prstGeom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EAA2A14E-BF26-20C4-5F7C-9CB481FEEA86}"/>
              </a:ext>
            </a:extLst>
          </p:cNvPr>
          <p:cNvCxnSpPr/>
          <p:nvPr/>
        </p:nvCxnSpPr>
        <p:spPr>
          <a:xfrm>
            <a:off x="7966213" y="1386509"/>
            <a:ext cx="2211457" cy="427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EA943AA-83CA-31F0-7FB6-BFD4F9D12A64}"/>
              </a:ext>
            </a:extLst>
          </p:cNvPr>
          <p:cNvCxnSpPr>
            <a:cxnSpLocks/>
          </p:cNvCxnSpPr>
          <p:nvPr/>
        </p:nvCxnSpPr>
        <p:spPr>
          <a:xfrm>
            <a:off x="9884465" y="1545535"/>
            <a:ext cx="129209" cy="5963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4FDD6E2F-F246-443A-0BBF-B18BC3286BC5}"/>
              </a:ext>
            </a:extLst>
          </p:cNvPr>
          <p:cNvCxnSpPr>
            <a:cxnSpLocks/>
          </p:cNvCxnSpPr>
          <p:nvPr/>
        </p:nvCxnSpPr>
        <p:spPr>
          <a:xfrm>
            <a:off x="1152939" y="1416329"/>
            <a:ext cx="2117035" cy="159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38E1B695-D906-A1CF-41DD-00096B998556}"/>
              </a:ext>
            </a:extLst>
          </p:cNvPr>
          <p:cNvCxnSpPr>
            <a:cxnSpLocks/>
          </p:cNvCxnSpPr>
          <p:nvPr/>
        </p:nvCxnSpPr>
        <p:spPr>
          <a:xfrm>
            <a:off x="2668657" y="1386509"/>
            <a:ext cx="529795" cy="755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8E855D-692C-7D2D-E1ED-20C6D7D8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355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41997-1A69-22B7-DCE9-B3DAE2CC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06EBECC-E263-FF40-9CA5-171CCBD4E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B552002-BAE7-E1B6-62EC-6B96E78C1EC8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6F883B81-8560-3F65-2C24-30C7BE8972A0}"/>
              </a:ext>
            </a:extLst>
          </p:cNvPr>
          <p:cNvSpPr txBox="1">
            <a:spLocks/>
          </p:cNvSpPr>
          <p:nvPr/>
        </p:nvSpPr>
        <p:spPr>
          <a:xfrm>
            <a:off x="139454" y="102379"/>
            <a:ext cx="9004545" cy="464004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Анализ исходных данных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4AF07AB-A834-FCE6-26FD-51A7B63D4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923" y="695735"/>
            <a:ext cx="3596402" cy="265041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CD12695-7146-C928-8B79-26F47147F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06" y="3475357"/>
            <a:ext cx="3617823" cy="2666205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252D1D-8540-8165-63F0-5A73B174A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165" y="3450507"/>
            <a:ext cx="3689348" cy="2718917"/>
          </a:xfrm>
          <a:prstGeom prst="rect">
            <a:avLst/>
          </a:prstGeom>
        </p:spPr>
      </p:pic>
      <p:sp>
        <p:nvSpPr>
          <p:cNvPr id="19" name="Овал 18">
            <a:extLst>
              <a:ext uri="{FF2B5EF4-FFF2-40B4-BE49-F238E27FC236}">
                <a16:creationId xmlns:a16="http://schemas.microsoft.com/office/drawing/2014/main" id="{86C8A22D-20F1-77C5-6E6B-553323A2BBD7}"/>
              </a:ext>
            </a:extLst>
          </p:cNvPr>
          <p:cNvSpPr/>
          <p:nvPr/>
        </p:nvSpPr>
        <p:spPr>
          <a:xfrm rot="290689">
            <a:off x="1101919" y="3752021"/>
            <a:ext cx="3096134" cy="2236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779D9503-E63E-080D-E1EE-6BE7785C500A}"/>
              </a:ext>
            </a:extLst>
          </p:cNvPr>
          <p:cNvSpPr/>
          <p:nvPr/>
        </p:nvSpPr>
        <p:spPr>
          <a:xfrm rot="1435194">
            <a:off x="865105" y="3967727"/>
            <a:ext cx="1881036" cy="5359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6026E1C-8DA1-02D0-16BE-B8F3C25041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917" y="695737"/>
            <a:ext cx="3534252" cy="260461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9A3449-8496-F0A2-48BF-678B1D170B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4713" y="3474678"/>
            <a:ext cx="3616073" cy="2664916"/>
          </a:xfrm>
          <a:prstGeom prst="rect">
            <a:avLst/>
          </a:prstGeom>
          <a:ln>
            <a:solidFill>
              <a:srgbClr val="FFC000"/>
            </a:solidFill>
          </a:ln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EC712D4-28EE-1AAB-CC26-19E153ED2808}"/>
              </a:ext>
            </a:extLst>
          </p:cNvPr>
          <p:cNvCxnSpPr/>
          <p:nvPr/>
        </p:nvCxnSpPr>
        <p:spPr>
          <a:xfrm>
            <a:off x="4840357" y="4105998"/>
            <a:ext cx="2748169" cy="16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7517900-FB21-E3E0-491A-848D9B9032B3}"/>
              </a:ext>
            </a:extLst>
          </p:cNvPr>
          <p:cNvCxnSpPr>
            <a:cxnSpLocks/>
          </p:cNvCxnSpPr>
          <p:nvPr/>
        </p:nvCxnSpPr>
        <p:spPr>
          <a:xfrm>
            <a:off x="6296439" y="4127751"/>
            <a:ext cx="1341783" cy="4144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79AD169-F9A8-6513-E84A-7AB4F74C6B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5536" y="693556"/>
            <a:ext cx="3534252" cy="2604617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05FDC66-CB34-B395-EEF1-FEFABCA3B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330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96B8D-234B-6FF3-6A0A-18F41440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50D41C-5C6C-2A13-DD4F-99B4721DC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63A00EB-F8A7-5F6F-A2F5-5ADB9E084542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0BF94AE4-A983-3DF4-15D7-A80F332384F3}"/>
              </a:ext>
            </a:extLst>
          </p:cNvPr>
          <p:cNvSpPr txBox="1">
            <a:spLocks/>
          </p:cNvSpPr>
          <p:nvPr/>
        </p:nvSpPr>
        <p:spPr>
          <a:xfrm>
            <a:off x="139454" y="102379"/>
            <a:ext cx="9004545" cy="464004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Результаты численного моделирования в симуляторе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D427C2D-2E7A-9A9A-28BD-8E8A996BD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879" y="700706"/>
            <a:ext cx="3998393" cy="260405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A236405-CB6F-B311-7086-E2FB092B7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340" y="678066"/>
            <a:ext cx="3916250" cy="262669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97BE98C-D246-ACCC-9136-4A8798479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206" y="3429000"/>
            <a:ext cx="4014066" cy="263346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DC23413-A3A2-066E-2EF6-C24A8717F5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339" y="3429000"/>
            <a:ext cx="3916249" cy="262350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1F9CCC2-2B16-8F1B-3574-7B724071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42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A8C05-10E8-986D-EF59-BC9A23A5D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AAD128-CA44-56A7-188C-3E5E90F5A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08AF43C2-32DA-35D3-A5D5-CB234A159CEF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2A296324-A5AD-6032-922A-1D8532682117}"/>
              </a:ext>
            </a:extLst>
          </p:cNvPr>
          <p:cNvSpPr txBox="1">
            <a:spLocks/>
          </p:cNvSpPr>
          <p:nvPr/>
        </p:nvSpPr>
        <p:spPr>
          <a:xfrm>
            <a:off x="139454" y="102379"/>
            <a:ext cx="9004545" cy="464004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Результаты численного моделирования в симуляторе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FB8B95-7A9A-AA8B-36A8-6699E1F6B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28" y="863671"/>
            <a:ext cx="3709038" cy="243788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385DFF-1EB1-5DD9-3867-CA04EAE6D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567" y="3422100"/>
            <a:ext cx="3670899" cy="248021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DB86F5D-662B-B1FC-37D1-6C01F2856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0429" y="863671"/>
            <a:ext cx="3747799" cy="243788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772E06E-8825-817A-B50D-D4D9917039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0429" y="3422100"/>
            <a:ext cx="3747799" cy="251371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C7090EC-16F7-B47A-730B-5142F273E3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3536" y="867802"/>
            <a:ext cx="3747798" cy="243788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A4B81FC-AA11-146C-E8A0-605ED41F8D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7805" y="3429000"/>
            <a:ext cx="3747798" cy="251066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140583-0A29-8CF3-211A-3A8064D2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514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BCBEB-57E3-76AB-F7ED-81119659C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9F0B0AD-C355-C7EF-87E8-FA77C34C3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342D912-8654-B548-E972-6ACE5636F856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A9FBE2AF-1D94-7BDD-ED5A-C306E2C4EE53}"/>
              </a:ext>
            </a:extLst>
          </p:cNvPr>
          <p:cNvSpPr txBox="1">
            <a:spLocks/>
          </p:cNvSpPr>
          <p:nvPr/>
        </p:nvSpPr>
        <p:spPr>
          <a:xfrm>
            <a:off x="117722" y="34120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Блок-схема алгоритма (ИКР)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B70FF3-B4CC-4501-A762-F358217949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801" y="755734"/>
            <a:ext cx="3818904" cy="54011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D9EAEE-EA33-D908-743B-35DF25DCF3E1}"/>
              </a:ext>
            </a:extLst>
          </p:cNvPr>
          <p:cNvSpPr txBox="1"/>
          <p:nvPr/>
        </p:nvSpPr>
        <p:spPr>
          <a:xfrm>
            <a:off x="6169367" y="1167667"/>
            <a:ext cx="433099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Плюсы</a:t>
            </a:r>
            <a:r>
              <a:rPr lang="en-US" sz="1600" b="1" dirty="0"/>
              <a:t>:</a:t>
            </a:r>
            <a:endParaRPr lang="ru-RU" sz="1600" b="1" dirty="0"/>
          </a:p>
          <a:p>
            <a:pPr marL="285750" indent="-285750">
              <a:buFontTx/>
              <a:buChar char="-"/>
            </a:pPr>
            <a:r>
              <a:rPr lang="ru-RU" sz="1600" dirty="0"/>
              <a:t>Падение продуктивности вследствие образования гидрата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Нет потребности реализовывать численную схему для тепломассопереноса</a:t>
            </a:r>
          </a:p>
          <a:p>
            <a:endParaRPr lang="ru-RU" sz="1600" b="1" dirty="0"/>
          </a:p>
          <a:p>
            <a:r>
              <a:rPr lang="ru-RU" sz="1600" b="1" dirty="0"/>
              <a:t>Недостатки</a:t>
            </a:r>
            <a:r>
              <a:rPr lang="en-US" sz="1600" b="1" dirty="0"/>
              <a:t>:</a:t>
            </a:r>
          </a:p>
          <a:p>
            <a:pPr marL="342900" indent="-342900">
              <a:buFontTx/>
              <a:buChar char="-"/>
            </a:pPr>
            <a:r>
              <a:rPr lang="ru-RU" sz="1600" dirty="0"/>
              <a:t>Завершение расчетного шага без влияния выпадения гидрата</a:t>
            </a:r>
            <a:r>
              <a:rPr lang="en-US" sz="1600" dirty="0"/>
              <a:t>, </a:t>
            </a:r>
            <a:r>
              <a:rPr lang="ru-RU" sz="1600" dirty="0"/>
              <a:t>влияние на продуктивность на следующем шаге</a:t>
            </a:r>
          </a:p>
          <a:p>
            <a:pPr marL="342900" indent="-342900">
              <a:buFontTx/>
              <a:buChar char="-"/>
            </a:pPr>
            <a:r>
              <a:rPr lang="ru-RU" sz="1600" dirty="0"/>
              <a:t>Создание промежуточных моделей</a:t>
            </a:r>
          </a:p>
          <a:p>
            <a:pPr marL="342900" indent="-342900">
              <a:buFontTx/>
              <a:buChar char="-"/>
            </a:pPr>
            <a:r>
              <a:rPr lang="ru-RU" sz="1600" dirty="0"/>
              <a:t>Влияние порядка обхода блоков (перенос не </a:t>
            </a:r>
            <a:r>
              <a:rPr lang="ru-RU" sz="1600" dirty="0" err="1"/>
              <a:t>кольматировавшегося</a:t>
            </a:r>
            <a:r>
              <a:rPr lang="ru-RU" sz="1600" dirty="0"/>
              <a:t> гидрата в соседние блоки)</a:t>
            </a:r>
          </a:p>
          <a:p>
            <a:pPr marL="342900" indent="-342900">
              <a:buFontTx/>
              <a:buChar char="-"/>
            </a:pPr>
            <a:r>
              <a:rPr lang="ru-RU" sz="1600" dirty="0"/>
              <a:t>Нет учета падения минерализации связанной воды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70E62A-98CB-908C-2795-6CC5966AC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865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BCEF6-6808-8C31-A6F1-2001718DA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346496-D641-FA9B-7FFB-896034898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05D06EC9-4CAE-D8A4-E2BF-2C4B37B61EA8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1F35C269-5061-6DBA-9191-3D8EDFFA488B}"/>
              </a:ext>
            </a:extLst>
          </p:cNvPr>
          <p:cNvSpPr txBox="1">
            <a:spLocks/>
          </p:cNvSpPr>
          <p:nvPr/>
        </p:nvSpPr>
        <p:spPr>
          <a:xfrm>
            <a:off x="56019" y="163627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Модель аккумуляции гидрата коллектором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4FBFDA-4973-546F-AF8B-4110C2C0425A}"/>
                  </a:ext>
                </a:extLst>
              </p:cNvPr>
              <p:cNvSpPr txBox="1"/>
              <p:nvPr/>
            </p:nvSpPr>
            <p:spPr>
              <a:xfrm>
                <a:off x="807555" y="658294"/>
                <a:ext cx="10359058" cy="1061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Делая допущение</a:t>
                </a:r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что обратные фазовые переходы не происходят</a:t>
                </a:r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можно записать что</a:t>
                </a:r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Γ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600" dirty="0">
                    <a:ea typeface="Times New Roman" panose="02020603050405020304" pitchFamily="18" charset="0"/>
                    <a:cs typeface="Symbol" panose="05050102010706020507" pitchFamily="18" charset="2"/>
                  </a:rPr>
                  <a:t> </a:t>
                </a: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зависит от скорости образования газового гидрата. Введя </a:t>
                </a:r>
                <a:r>
                  <a:rPr lang="ru-RU" sz="1600" dirty="0"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скалярную величину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ru-RU" sz="16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</m:d>
                  </m:oMath>
                </a14:m>
                <a:r>
                  <a:rPr lang="en-US" sz="1600" dirty="0"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как скорость образования гидрата: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4FBFDA-4973-546F-AF8B-4110C2C04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55" y="658294"/>
                <a:ext cx="10359058" cy="1061829"/>
              </a:xfrm>
              <a:prstGeom prst="rect">
                <a:avLst/>
              </a:prstGeom>
              <a:blipFill>
                <a:blip r:embed="rId3"/>
                <a:stretch>
                  <a:fillRect l="-294" t="-17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034932-1CE6-F547-7EEA-87AA784D8913}"/>
                  </a:ext>
                </a:extLst>
              </p:cNvPr>
              <p:cNvSpPr txBox="1"/>
              <p:nvPr/>
            </p:nvSpPr>
            <p:spPr>
              <a:xfrm>
                <a:off x="2893947" y="1432910"/>
                <a:ext cx="5346550" cy="497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ymbol" panose="05050102010706020507" pitchFamily="18" charset="2"/>
                            </a:rPr>
                            <m:t>𝛼</m:t>
                          </m:r>
                        </m:sub>
                      </m:sSub>
                      <m:r>
                        <a:rPr lang="ru-RU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ymbol" panose="05050102010706020507" pitchFamily="18" charset="2"/>
                            </a:rPr>
                            <m:t>𝛼</m:t>
                          </m:r>
                        </m:sub>
                      </m:sSub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ru-RU" sz="2400" b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где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∈{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034932-1CE6-F547-7EEA-87AA784D8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947" y="1432910"/>
                <a:ext cx="5346550" cy="497893"/>
              </a:xfrm>
              <a:prstGeom prst="rect">
                <a:avLst/>
              </a:prstGeom>
              <a:blipFill>
                <a:blip r:embed="rId4"/>
                <a:stretch>
                  <a:fillRect b="-85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615C24-03C4-3657-2423-F7E7D371A0E1}"/>
                  </a:ext>
                </a:extLst>
              </p:cNvPr>
              <p:cNvSpPr txBox="1"/>
              <p:nvPr/>
            </p:nvSpPr>
            <p:spPr>
              <a:xfrm>
                <a:off x="887068" y="2031970"/>
                <a:ext cx="975210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При этом для газа и воды стехиометрический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должен быть отрицательным</a:t>
                </a:r>
                <a:r>
                  <a:rPr lang="en-US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 для гидрата положительным</a:t>
                </a:r>
                <a:r>
                  <a:rPr lang="en-US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тогда</a:t>
                </a:r>
                <a:r>
                  <a:rPr lang="en-US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615C24-03C4-3657-2423-F7E7D371A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068" y="2031970"/>
                <a:ext cx="9752106" cy="584775"/>
              </a:xfrm>
              <a:prstGeom prst="rect">
                <a:avLst/>
              </a:prstGeom>
              <a:blipFill>
                <a:blip r:embed="rId5"/>
                <a:stretch>
                  <a:fillRect l="-375" t="-3125" b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A6DE5A-B037-3152-31EB-3D6734A6887A}"/>
                  </a:ext>
                </a:extLst>
              </p:cNvPr>
              <p:cNvSpPr txBox="1"/>
              <p:nvPr/>
            </p:nvSpPr>
            <p:spPr>
              <a:xfrm>
                <a:off x="896735" y="5039471"/>
                <a:ext cx="10781743" cy="8510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Здесь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плотности фаз,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фильтрационные скорости,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скорость образования гидрата,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𝜈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стехиометрические коэффициенты переноса массы (могут быть вычислены на </a:t>
                </a:r>
                <a:r>
                  <a:rPr lang="ru-RU" sz="1600" dirty="0"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</a:t>
                </a:r>
                <a:r>
                  <a:rPr lang="ru-RU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снове уравнения состояния</a:t>
                </a:r>
                <a:r>
                  <a:rPr lang="ru-RU" sz="1600" dirty="0"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(например </a:t>
                </a:r>
                <a:r>
                  <a:rPr lang="ru-RU" sz="1600" dirty="0" err="1"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Пенга</a:t>
                </a:r>
                <a:r>
                  <a:rPr lang="ru-RU" sz="1600" dirty="0"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-Робинсона) или взяты экспериментальные</a:t>
                </a:r>
                <a:r>
                  <a:rPr lang="ru-RU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A6DE5A-B037-3152-31EB-3D6734A68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735" y="5039471"/>
                <a:ext cx="10781743" cy="851002"/>
              </a:xfrm>
              <a:prstGeom prst="rect">
                <a:avLst/>
              </a:prstGeom>
              <a:blipFill>
                <a:blip r:embed="rId6"/>
                <a:stretch>
                  <a:fillRect l="-283" t="-2158" b="-86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1F3B8D3-9502-44C2-A404-52D6DBC06412}"/>
              </a:ext>
            </a:extLst>
          </p:cNvPr>
          <p:cNvGrpSpPr/>
          <p:nvPr/>
        </p:nvGrpSpPr>
        <p:grpSpPr>
          <a:xfrm>
            <a:off x="82276" y="2613545"/>
            <a:ext cx="6171215" cy="2359605"/>
            <a:chOff x="1056315" y="2613545"/>
            <a:chExt cx="6171215" cy="23596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4D5A854-91A8-BC7A-611C-0208F7BA1A46}"/>
                    </a:ext>
                  </a:extLst>
                </p:cNvPr>
                <p:cNvSpPr txBox="1"/>
                <p:nvPr/>
              </p:nvSpPr>
              <p:spPr>
                <a:xfrm>
                  <a:off x="1809350" y="2613545"/>
                  <a:ext cx="5346550" cy="7068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e>
                        </m:d>
                        <m:r>
                          <a:rPr lang="ru-RU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ru-RU" i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ru-RU" i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ru-RU" b="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e>
                        </m:d>
                        <m:r>
                          <a:rPr lang="ru-RU" b="0" i="0"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ru-RU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b="0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ru-RU" b="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sSub>
                          <m:sSubPr>
                            <m:ctrlPr>
                              <a:rPr lang="ru-RU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b="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b="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4D5A854-91A8-BC7A-611C-0208F7BA1A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9350" y="2613545"/>
                  <a:ext cx="5346550" cy="70686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0CFF749-6904-ACA5-D26C-4D16C43EB812}"/>
                    </a:ext>
                  </a:extLst>
                </p:cNvPr>
                <p:cNvSpPr txBox="1"/>
                <p:nvPr/>
              </p:nvSpPr>
              <p:spPr>
                <a:xfrm>
                  <a:off x="1880980" y="3493109"/>
                  <a:ext cx="5346550" cy="7068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  <m:r>
                          <a:rPr lang="ru-RU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ru-RU" i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ru-RU" i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ru-RU" b="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  <m:r>
                          <a:rPr lang="ru-RU" b="0" i="0"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ru-RU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b="0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ru-RU" b="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sSub>
                          <m:sSubPr>
                            <m:ctrlPr>
                              <a:rPr lang="ru-RU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b="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b="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0CFF749-6904-ACA5-D26C-4D16C43EB8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0980" y="3493109"/>
                  <a:ext cx="5346550" cy="70686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E76C120-FEC9-A1E8-C422-85444699A924}"/>
                    </a:ext>
                  </a:extLst>
                </p:cNvPr>
                <p:cNvSpPr txBox="1"/>
                <p:nvPr/>
              </p:nvSpPr>
              <p:spPr>
                <a:xfrm>
                  <a:off x="1056315" y="4266290"/>
                  <a:ext cx="5346550" cy="7068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  <m:r>
                          <a:rPr lang="ru-RU" i="0">
                            <a:latin typeface="Cambria Math" panose="02040503050406030204" pitchFamily="18" charset="0"/>
                          </a:rPr>
                          <m:t>=+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E76C120-FEC9-A1E8-C422-85444699A9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315" y="4266290"/>
                  <a:ext cx="5346550" cy="70686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Левая фигурная скобка 11">
              <a:extLst>
                <a:ext uri="{FF2B5EF4-FFF2-40B4-BE49-F238E27FC236}">
                  <a16:creationId xmlns:a16="http://schemas.microsoft.com/office/drawing/2014/main" id="{9475C009-BEE2-C7E4-07B9-02667EB7B3C1}"/>
                </a:ext>
              </a:extLst>
            </p:cNvPr>
            <p:cNvSpPr/>
            <p:nvPr/>
          </p:nvSpPr>
          <p:spPr>
            <a:xfrm>
              <a:off x="1784502" y="2683066"/>
              <a:ext cx="586408" cy="2221395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pic>
        <p:nvPicPr>
          <p:cNvPr id="15" name="Рисунок 14" descr="Изображение выглядит как текст, Шрифт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445489B-AE78-7ABA-279C-A00E049A4D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2900698"/>
            <a:ext cx="5442221" cy="1891681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46513EE-3D36-EF44-1E5E-BD6FD5CAF244}"/>
              </a:ext>
            </a:extLst>
          </p:cNvPr>
          <p:cNvSpPr/>
          <p:nvPr/>
        </p:nvSpPr>
        <p:spPr>
          <a:xfrm>
            <a:off x="10718940" y="3408278"/>
            <a:ext cx="1132237" cy="770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65E9AF8-EC74-F0BF-D486-B131037C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957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30FBF-8527-6058-C0EA-B2F2D164D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9602AD-42A7-49AD-65E3-D04876461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68131268-764A-4603-1526-F6FA89E88235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23053A83-2D46-01E8-BB0F-E8579DC8B84F}"/>
              </a:ext>
            </a:extLst>
          </p:cNvPr>
          <p:cNvSpPr txBox="1">
            <a:spLocks/>
          </p:cNvSpPr>
          <p:nvPr/>
        </p:nvSpPr>
        <p:spPr>
          <a:xfrm>
            <a:off x="173573" y="170619"/>
            <a:ext cx="9343017" cy="515138"/>
          </a:xfrm>
          <a:prstGeom prst="rect">
            <a:avLst/>
          </a:prstGeom>
        </p:spPr>
        <p:txBody>
          <a:bodyPr vert="horz" lIns="104306" tIns="52153" rIns="104306" bIns="52153" rtlCol="0">
            <a:no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Законы сохранения энергии с учетом фазовых переходов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4F5F92-2ACA-280D-661C-EF2ABC21B0F6}"/>
              </a:ext>
            </a:extLst>
          </p:cNvPr>
          <p:cNvSpPr txBox="1"/>
          <p:nvPr/>
        </p:nvSpPr>
        <p:spPr>
          <a:xfrm>
            <a:off x="977600" y="1168824"/>
            <a:ext cx="85899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ru-RU" sz="16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Учитывая, что рассматриваемый процесс образования гидратов в аномальных пластах зависит не только от давления, но и от температуры, необходимо также учитывать закон сохранения энергии: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8281FC33-3B9D-8AE0-A63F-C181072E3C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1733232"/>
                  </p:ext>
                </p:extLst>
              </p:nvPr>
            </p:nvGraphicFramePr>
            <p:xfrm>
              <a:off x="1100095" y="2398160"/>
              <a:ext cx="8881325" cy="1290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881325">
                      <a:extLst>
                        <a:ext uri="{9D8B030D-6E8A-4147-A177-3AD203B41FA5}">
                          <a16:colId xmlns:a16="http://schemas.microsoft.com/office/drawing/2014/main" val="1606025839"/>
                        </a:ext>
                      </a:extLst>
                    </a:gridCol>
                  </a:tblGrid>
                  <a:tr h="129076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eqArr>
                                  <m:eqArrPr>
                                    <m:ctrlP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eqArrPr>
                                  <m:e>
                                    <m:f>
                                      <m:fPr>
                                        <m:ctrlP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num>
                                      <m:den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den>
                                    </m:f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𝜙</m:t>
                                        </m:r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 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𝜙</m:t>
                                        </m:r>
                                        <m:nary>
                                          <m:naryPr>
                                            <m:chr m:val="∑"/>
                                            <m:limLoc m:val="undOvr"/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∈{</m:t>
                                            </m:r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𝑔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𝑤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h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}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​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𝛼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sub>
                                        </m:s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&amp;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∇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d>
                                      <m:dPr>
                                        <m:ctrlP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eff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∇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nary>
                                          <m:naryPr>
                                            <m:chr m:val="∑"/>
                                            <m:limLoc m:val="undOvr"/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∈{</m:t>
                                            </m:r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𝑔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𝑤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}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​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𝛼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b="1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𝐮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e>
                                </m:eqArr>
                              </m:oMath>
                            </m:oMathPara>
                          </a14:m>
                          <a:endParaRPr lang="ru-RU" sz="18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908119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8281FC33-3B9D-8AE0-A63F-C181072E3C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1733232"/>
                  </p:ext>
                </p:extLst>
              </p:nvPr>
            </p:nvGraphicFramePr>
            <p:xfrm>
              <a:off x="1100095" y="2398160"/>
              <a:ext cx="8881325" cy="1290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881325">
                      <a:extLst>
                        <a:ext uri="{9D8B030D-6E8A-4147-A177-3AD203B41FA5}">
                          <a16:colId xmlns:a16="http://schemas.microsoft.com/office/drawing/2014/main" val="1606025839"/>
                        </a:ext>
                      </a:extLst>
                    </a:gridCol>
                  </a:tblGrid>
                  <a:tr h="129076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081196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44F594-885A-CC0F-EC3A-DC97C73EEDF0}"/>
                  </a:ext>
                </a:extLst>
              </p:cNvPr>
              <p:cNvSpPr txBox="1"/>
              <p:nvPr/>
            </p:nvSpPr>
            <p:spPr>
              <a:xfrm>
                <a:off x="977600" y="4918248"/>
                <a:ext cx="934301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Здесь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 плотность и теплоёмкость матрицы,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 теплоёмкости фаз,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eff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 эффективная теплопроводность пористой среды,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 удельные энтальпии фаз,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 удельная скрытая теплота образования гидрата.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44F594-885A-CC0F-EC3A-DC97C73EE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600" y="4918248"/>
                <a:ext cx="9343017" cy="830997"/>
              </a:xfrm>
              <a:prstGeom prst="rect">
                <a:avLst/>
              </a:prstGeom>
              <a:blipFill>
                <a:blip r:embed="rId4"/>
                <a:stretch>
                  <a:fillRect l="-326" t="-2206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296444A-B997-4AA0-1252-91BFDF984583}"/>
              </a:ext>
            </a:extLst>
          </p:cNvPr>
          <p:cNvCxnSpPr>
            <a:cxnSpLocks/>
          </p:cNvCxnSpPr>
          <p:nvPr/>
        </p:nvCxnSpPr>
        <p:spPr>
          <a:xfrm flipH="1">
            <a:off x="4249380" y="2953659"/>
            <a:ext cx="370232" cy="1075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C0F7AFA-B907-0233-AD60-A98AE4F70369}"/>
              </a:ext>
            </a:extLst>
          </p:cNvPr>
          <p:cNvSpPr txBox="1"/>
          <p:nvPr/>
        </p:nvSpPr>
        <p:spPr>
          <a:xfrm>
            <a:off x="3097270" y="4040063"/>
            <a:ext cx="20313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50" dirty="0"/>
              <a:t>Внутренняя энергия фаз в порах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B8A14E2-C3B0-96E5-7DAA-8D3D94AE1A0B}"/>
              </a:ext>
            </a:extLst>
          </p:cNvPr>
          <p:cNvCxnSpPr>
            <a:cxnSpLocks/>
          </p:cNvCxnSpPr>
          <p:nvPr/>
        </p:nvCxnSpPr>
        <p:spPr>
          <a:xfrm flipH="1">
            <a:off x="7672105" y="2953659"/>
            <a:ext cx="370232" cy="1075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DD83944-B03E-E993-860D-81C7FFD39470}"/>
              </a:ext>
            </a:extLst>
          </p:cNvPr>
          <p:cNvSpPr txBox="1"/>
          <p:nvPr/>
        </p:nvSpPr>
        <p:spPr>
          <a:xfrm>
            <a:off x="6519995" y="4040063"/>
            <a:ext cx="32047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50" dirty="0"/>
              <a:t>Конвективный перенос тепла фазами при движении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98E1FE4F-4D4D-68E0-E48D-CB0BF0580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654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845FF-39E1-F26D-0B01-3A184E225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EC562E-F8B8-F61F-04E5-1B1DA7DCF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4E4D1BD-6107-D6EF-4633-500186EE382B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E345A40C-FACC-6034-B428-39C344DFB7E5}"/>
              </a:ext>
            </a:extLst>
          </p:cNvPr>
          <p:cNvSpPr txBox="1">
            <a:spLocks/>
          </p:cNvSpPr>
          <p:nvPr/>
        </p:nvSpPr>
        <p:spPr>
          <a:xfrm>
            <a:off x="261023" y="102379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Начальные и граничные условия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2D416-5BF7-9C59-D7A7-A529744F6CA6}"/>
              </a:ext>
            </a:extLst>
          </p:cNvPr>
          <p:cNvSpPr txBox="1"/>
          <p:nvPr/>
        </p:nvSpPr>
        <p:spPr>
          <a:xfrm>
            <a:off x="261023" y="1037909"/>
            <a:ext cx="119349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Для численного решения уравнения сохранения энергии используем метод контрольных объёмов (</a:t>
            </a:r>
            <a:r>
              <a:rPr lang="ru-RU" dirty="0" err="1"/>
              <a:t>finite</a:t>
            </a:r>
            <a:r>
              <a:rPr lang="ru-RU" dirty="0"/>
              <a:t> </a:t>
            </a:r>
            <a:r>
              <a:rPr lang="ru-RU" dirty="0" err="1"/>
              <a:t>volume</a:t>
            </a:r>
            <a:r>
              <a:rPr lang="ru-RU" dirty="0"/>
              <a:t> </a:t>
            </a:r>
            <a:r>
              <a:rPr lang="ru-RU" dirty="0" err="1"/>
              <a:t>method</a:t>
            </a:r>
            <a:r>
              <a:rPr lang="ru-RU" dirty="0"/>
              <a:t>, FVM). Пространственная область разбивается на непересекающееся семейства контрольных объёмов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EAAAF1-CDC7-849D-F400-5B25A6DD408A}"/>
              </a:ext>
            </a:extLst>
          </p:cNvPr>
          <p:cNvSpPr txBox="1"/>
          <p:nvPr/>
        </p:nvSpPr>
        <p:spPr>
          <a:xfrm>
            <a:off x="523349" y="2054935"/>
            <a:ext cx="1038111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Условия решения краевой задачи</a:t>
            </a:r>
            <a:r>
              <a:rPr lang="en-US" dirty="0"/>
              <a:t>:</a:t>
            </a:r>
          </a:p>
          <a:p>
            <a:pPr marL="342900" indent="-342900">
              <a:buFontTx/>
              <a:buChar char="-"/>
            </a:pPr>
            <a:r>
              <a:rPr lang="ru-RU" dirty="0"/>
              <a:t>Моделируемая область ограничивается радиусом контура питания в 1000 метров.</a:t>
            </a:r>
          </a:p>
          <a:p>
            <a:pPr marL="342900" indent="-342900">
              <a:buFontTx/>
              <a:buChar char="-"/>
            </a:pPr>
            <a:r>
              <a:rPr lang="en-US" dirty="0"/>
              <a:t>No-flow </a:t>
            </a:r>
            <a:r>
              <a:rPr lang="ru-RU" dirty="0"/>
              <a:t>границы у контура питания с нулевым градиентом давления.</a:t>
            </a:r>
          </a:p>
          <a:p>
            <a:pPr marL="342900" indent="-342900">
              <a:buFontTx/>
              <a:buChar char="-"/>
            </a:pPr>
            <a:r>
              <a:rPr lang="ru-RU" dirty="0"/>
              <a:t>Не учитывается интерференция между скважинами.</a:t>
            </a:r>
          </a:p>
          <a:p>
            <a:pPr marL="342900" indent="-342900">
              <a:buFontTx/>
              <a:buChar char="-"/>
            </a:pPr>
            <a:r>
              <a:rPr lang="ru-RU" dirty="0"/>
              <a:t>Заданы поля пористости</a:t>
            </a:r>
            <a:r>
              <a:rPr lang="en-US" dirty="0"/>
              <a:t>, </a:t>
            </a:r>
            <a:r>
              <a:rPr lang="ru-RU" dirty="0"/>
              <a:t>проницаемости.</a:t>
            </a:r>
          </a:p>
          <a:p>
            <a:pPr marL="342900" indent="-342900">
              <a:buFontTx/>
              <a:buChar char="-"/>
            </a:pPr>
            <a:r>
              <a:rPr lang="ru-RU" dirty="0"/>
              <a:t>Задана начальное давление</a:t>
            </a:r>
            <a:r>
              <a:rPr lang="en-US" dirty="0"/>
              <a:t>, </a:t>
            </a:r>
            <a:r>
              <a:rPr lang="ru-RU" dirty="0"/>
              <a:t>температура.</a:t>
            </a:r>
          </a:p>
          <a:p>
            <a:pPr marL="342900" indent="-342900">
              <a:buFontTx/>
              <a:buChar char="-"/>
            </a:pPr>
            <a:r>
              <a:rPr lang="ru-RU" dirty="0"/>
              <a:t>Заданы </a:t>
            </a:r>
            <a:r>
              <a:rPr lang="en-US" dirty="0"/>
              <a:t>PVT-</a:t>
            </a:r>
            <a:r>
              <a:rPr lang="ru-RU" dirty="0"/>
              <a:t>свойства пластовых флюидов.</a:t>
            </a:r>
          </a:p>
          <a:p>
            <a:pPr marL="342900" indent="-342900">
              <a:buFontTx/>
              <a:buChar char="-"/>
            </a:pPr>
            <a:r>
              <a:rPr lang="ru-RU" dirty="0"/>
              <a:t>Известно начальное насыщение коллектора (</a:t>
            </a:r>
            <a:r>
              <a:rPr lang="en-US" dirty="0" err="1"/>
              <a:t>Sw</a:t>
            </a:r>
            <a:r>
              <a:rPr lang="en-US" dirty="0"/>
              <a:t>, Sg</a:t>
            </a:r>
            <a:r>
              <a:rPr lang="ru-RU" dirty="0"/>
              <a:t>)</a:t>
            </a:r>
            <a:r>
              <a:rPr lang="en-US" dirty="0"/>
              <a:t>, </a:t>
            </a:r>
            <a:r>
              <a:rPr lang="ru-RU" dirty="0"/>
              <a:t>гидратов нет</a:t>
            </a:r>
            <a:r>
              <a:rPr lang="en-US" dirty="0"/>
              <a:t>.</a:t>
            </a:r>
            <a:endParaRPr lang="ru-RU" dirty="0"/>
          </a:p>
          <a:p>
            <a:pPr marL="342900" indent="-342900">
              <a:buFontTx/>
              <a:buChar char="-"/>
            </a:pPr>
            <a:r>
              <a:rPr lang="ru-RU" dirty="0"/>
              <a:t>Принимается допущение о </a:t>
            </a:r>
            <a:r>
              <a:rPr lang="ru-RU" dirty="0" err="1"/>
              <a:t>несжимаемости</a:t>
            </a:r>
            <a:r>
              <a:rPr lang="ru-RU" dirty="0"/>
              <a:t> флюидов и газового гидрата</a:t>
            </a:r>
            <a:r>
              <a:rPr lang="en-US" dirty="0"/>
              <a:t>.</a:t>
            </a:r>
            <a:endParaRPr lang="ru-RU" dirty="0"/>
          </a:p>
          <a:p>
            <a:pPr marL="342900" indent="-342900">
              <a:buFontTx/>
              <a:buChar char="-"/>
            </a:pPr>
            <a:r>
              <a:rPr lang="ru-RU" dirty="0"/>
              <a:t>Принимаются однонаправленные фазовые переходы </a:t>
            </a:r>
            <a:r>
              <a:rPr lang="en-US" dirty="0" err="1"/>
              <a:t>Sw</a:t>
            </a:r>
            <a:r>
              <a:rPr lang="en-US" dirty="0"/>
              <a:t> + Sg = </a:t>
            </a:r>
            <a:r>
              <a:rPr lang="en-US" dirty="0" err="1"/>
              <a:t>Sh</a:t>
            </a:r>
            <a:r>
              <a:rPr lang="en-US" dirty="0"/>
              <a:t>,</a:t>
            </a:r>
            <a:endParaRPr lang="ru-RU" dirty="0"/>
          </a:p>
          <a:p>
            <a:r>
              <a:rPr lang="ru-RU" dirty="0"/>
              <a:t>обратный произвольный переход не рассматривается (нет диссоциации)</a:t>
            </a:r>
            <a:r>
              <a:rPr lang="en-US" dirty="0"/>
              <a:t>.</a:t>
            </a:r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/>
              <a:t>Сетка стационарная прямоугольная</a:t>
            </a:r>
            <a:r>
              <a:rPr lang="en-US" dirty="0"/>
              <a:t>.</a:t>
            </a:r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/>
              <a:t>Известна кривая </a:t>
            </a:r>
            <a:r>
              <a:rPr lang="ru-RU" dirty="0" err="1"/>
              <a:t>гидратообразования</a:t>
            </a:r>
            <a:r>
              <a:rPr lang="en-US" dirty="0"/>
              <a:t>, </a:t>
            </a:r>
            <a:r>
              <a:rPr lang="ru-RU" dirty="0"/>
              <a:t>состав газа и воды</a:t>
            </a:r>
            <a:r>
              <a:rPr lang="en-US" dirty="0"/>
              <a:t>, </a:t>
            </a:r>
            <a:r>
              <a:rPr lang="ru-RU" dirty="0"/>
              <a:t>наличие центров кристаллизации в виде</a:t>
            </a:r>
          </a:p>
          <a:p>
            <a:r>
              <a:rPr lang="ru-RU" dirty="0"/>
              <a:t>парафинов или иных примесей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FD759C6-10FF-9315-759F-E3F56E00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6325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52531-DEAE-FEB0-99A4-23F214D0C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7E3210-14E4-0397-4B5B-D21D38680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A28BADE8-D2D3-B05A-9AE9-069F78E12BDD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D71C1A56-3790-617B-07DF-67960F5C52C4}"/>
              </a:ext>
            </a:extLst>
          </p:cNvPr>
          <p:cNvSpPr txBox="1">
            <a:spLocks/>
          </p:cNvSpPr>
          <p:nvPr/>
        </p:nvSpPr>
        <p:spPr>
          <a:xfrm>
            <a:off x="213256" y="49267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Функционал программного комплекса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907C0B-D7A9-3AE7-E701-526889B6A707}"/>
              </a:ext>
            </a:extLst>
          </p:cNvPr>
          <p:cNvSpPr txBox="1"/>
          <p:nvPr/>
        </p:nvSpPr>
        <p:spPr>
          <a:xfrm>
            <a:off x="276607" y="1244896"/>
            <a:ext cx="1132970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Cli-</a:t>
            </a:r>
            <a:r>
              <a:rPr lang="ru-RU" dirty="0"/>
              <a:t>утилита  для моделирования тепломассопереноса залежей с аномальными термобарическими условиями</a:t>
            </a:r>
          </a:p>
          <a:p>
            <a:pPr marL="285750" indent="-285750">
              <a:buFontTx/>
              <a:buChar char="-"/>
            </a:pPr>
            <a:r>
              <a:rPr lang="ru-RU" dirty="0"/>
              <a:t>Логирование шагов </a:t>
            </a:r>
            <a:r>
              <a:rPr lang="ru-RU" dirty="0" err="1"/>
              <a:t>рассчета</a:t>
            </a:r>
            <a:r>
              <a:rPr lang="en-US" dirty="0"/>
              <a:t> (SPDLOG) </a:t>
            </a:r>
          </a:p>
          <a:p>
            <a:pPr marL="285750" indent="-285750">
              <a:buFontTx/>
              <a:buChar char="-"/>
            </a:pPr>
            <a:r>
              <a:rPr lang="ru-RU" dirty="0"/>
              <a:t>Инициализация расчётной области из </a:t>
            </a:r>
            <a:r>
              <a:rPr lang="en-US" dirty="0"/>
              <a:t>eclipse-</a:t>
            </a:r>
            <a:r>
              <a:rPr lang="ru-RU" dirty="0"/>
              <a:t>форматов</a:t>
            </a:r>
            <a:r>
              <a:rPr lang="en-US" dirty="0"/>
              <a:t> </a:t>
            </a:r>
            <a:r>
              <a:rPr lang="ru-RU" dirty="0"/>
              <a:t>данных (</a:t>
            </a:r>
            <a:r>
              <a:rPr lang="en-US" dirty="0"/>
              <a:t>OPM-parser</a:t>
            </a:r>
            <a:r>
              <a:rPr lang="ru-RU" dirty="0"/>
              <a:t>)</a:t>
            </a:r>
          </a:p>
          <a:p>
            <a:pPr marL="285750" indent="-285750">
              <a:buFontTx/>
              <a:buChar char="-"/>
            </a:pPr>
            <a:r>
              <a:rPr lang="ru-RU" dirty="0"/>
              <a:t>Решение на прогноз ДУ с ЧП с учетом падения проницаемости от </a:t>
            </a:r>
            <a:r>
              <a:rPr lang="ru-RU" dirty="0" err="1"/>
              <a:t>гидратообразования</a:t>
            </a:r>
            <a:r>
              <a:rPr lang="en-US" dirty="0"/>
              <a:t> (backward Euler),</a:t>
            </a:r>
            <a:endParaRPr lang="ru-RU" dirty="0"/>
          </a:p>
          <a:p>
            <a:r>
              <a:rPr lang="ru-RU" dirty="0"/>
              <a:t>решение задачи вычислительной гидродинамики</a:t>
            </a:r>
          </a:p>
          <a:p>
            <a:pPr marL="285750" indent="-285750">
              <a:buFontTx/>
              <a:buChar char="-"/>
            </a:pPr>
            <a:r>
              <a:rPr lang="ru-RU" dirty="0"/>
              <a:t>Экспорт данных в </a:t>
            </a:r>
            <a:r>
              <a:rPr lang="en-US" dirty="0"/>
              <a:t>HDF5/VTK </a:t>
            </a:r>
            <a:r>
              <a:rPr lang="ru-RU" dirty="0"/>
              <a:t>форматах для анализа и сравнения результатов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172B27E-A5AB-2EB4-08F1-F7F72F89C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077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10EA-AD71-30AC-FA19-E26B21A25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D7BE9F-A91D-EDBE-BFB3-F9929F1A0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6B41B59B-8021-498B-CEB6-4141C29DDF65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01C6E084-3A11-C6D5-9556-1E27A9506C4D}"/>
              </a:ext>
            </a:extLst>
          </p:cNvPr>
          <p:cNvSpPr txBox="1">
            <a:spLocks/>
          </p:cNvSpPr>
          <p:nvPr/>
        </p:nvSpPr>
        <p:spPr>
          <a:xfrm>
            <a:off x="213256" y="49267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Архитектура программного комплекса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CA8BED-1876-F01B-65BB-7CD4426E1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958" y="740500"/>
            <a:ext cx="7840527" cy="51614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061829-0256-0849-0BAB-4849FDE4F823}"/>
              </a:ext>
            </a:extLst>
          </p:cNvPr>
          <p:cNvSpPr txBox="1"/>
          <p:nvPr/>
        </p:nvSpPr>
        <p:spPr>
          <a:xfrm>
            <a:off x="2548553" y="5901929"/>
            <a:ext cx="1739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</a:t>
            </a:r>
            <a:r>
              <a:rPr lang="en-US" sz="1600" dirty="0"/>
              <a:t>C1</a:t>
            </a:r>
            <a:endParaRPr lang="ru-RU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43F90F-3941-B5EB-293E-BE483FAB7563}"/>
              </a:ext>
            </a:extLst>
          </p:cNvPr>
          <p:cNvSpPr txBox="1"/>
          <p:nvPr/>
        </p:nvSpPr>
        <p:spPr>
          <a:xfrm>
            <a:off x="5246646" y="1182756"/>
            <a:ext cx="669446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.DATA – </a:t>
            </a:r>
            <a:r>
              <a:rPr lang="ru-RU" sz="1000" dirty="0"/>
              <a:t>основной файл</a:t>
            </a:r>
            <a:r>
              <a:rPr lang="en-US" sz="1000" dirty="0"/>
              <a:t>, </a:t>
            </a:r>
            <a:r>
              <a:rPr lang="ru-RU" sz="1000" dirty="0"/>
              <a:t>содержит данные о свойствах флюидов и используемой модели</a:t>
            </a:r>
            <a:r>
              <a:rPr lang="en-US" sz="1000" dirty="0"/>
              <a:t>,</a:t>
            </a:r>
            <a:r>
              <a:rPr lang="ru-RU" sz="1000" dirty="0"/>
              <a:t> ссылки на вспомогательные</a:t>
            </a:r>
            <a:r>
              <a:rPr lang="en-US" sz="1000" dirty="0"/>
              <a:t>,</a:t>
            </a:r>
          </a:p>
          <a:p>
            <a:r>
              <a:rPr lang="ru-RU" sz="1000" dirty="0"/>
              <a:t>может включать в себя разделение модели на регионы для кривых насыщения</a:t>
            </a:r>
            <a:r>
              <a:rPr lang="en-US" sz="1000" dirty="0"/>
              <a:t>, </a:t>
            </a:r>
            <a:r>
              <a:rPr lang="ru-RU" sz="1000" dirty="0"/>
              <a:t>границы контактов и др.</a:t>
            </a:r>
          </a:p>
          <a:p>
            <a:r>
              <a:rPr lang="ru-RU" sz="1000" dirty="0"/>
              <a:t>.INIT — начальные условия (давления, насыщенности PORO, PERMX, SWAT, SOIL и т.д.) для инициализации модели</a:t>
            </a:r>
            <a:r>
              <a:rPr lang="en-US" sz="1000" dirty="0"/>
              <a:t>,</a:t>
            </a:r>
          </a:p>
          <a:p>
            <a:r>
              <a:rPr lang="en-US" sz="1000" dirty="0"/>
              <a:t>.GRDECL — </a:t>
            </a:r>
            <a:r>
              <a:rPr lang="ru-RU" sz="1000" dirty="0"/>
              <a:t>описание геометрии сетки в формате </a:t>
            </a:r>
            <a:r>
              <a:rPr lang="en-US" sz="1000" dirty="0"/>
              <a:t>GRDECL (COORD, ZCORN, ACTNUM),</a:t>
            </a:r>
          </a:p>
          <a:p>
            <a:r>
              <a:rPr lang="ru-RU" sz="1000" dirty="0"/>
              <a:t>.GRID</a:t>
            </a:r>
            <a:r>
              <a:rPr lang="en-US" sz="1000" dirty="0"/>
              <a:t> </a:t>
            </a:r>
            <a:r>
              <a:rPr lang="ru-RU" sz="1000" dirty="0"/>
              <a:t>— бинарный или текстовый файл сетки, определяет ячейки, связи, проницаемость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7F947-8833-4B85-BDED-5366A18C7FCF}"/>
              </a:ext>
            </a:extLst>
          </p:cNvPr>
          <p:cNvSpPr txBox="1"/>
          <p:nvPr/>
        </p:nvSpPr>
        <p:spPr>
          <a:xfrm>
            <a:off x="4830086" y="4870836"/>
            <a:ext cx="68291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VTK – visualization toolkit (</a:t>
            </a:r>
            <a:r>
              <a:rPr lang="ru-RU" sz="1000" dirty="0"/>
              <a:t>экспорт сеток</a:t>
            </a:r>
            <a:r>
              <a:rPr lang="en-US" sz="1000" dirty="0"/>
              <a:t>, </a:t>
            </a:r>
            <a:r>
              <a:rPr lang="ru-RU" sz="1000" dirty="0"/>
              <a:t>полей физических параметров для последующей визуализации</a:t>
            </a:r>
            <a:r>
              <a:rPr lang="en-US" sz="1000" dirty="0"/>
              <a:t>)</a:t>
            </a:r>
            <a:r>
              <a:rPr lang="ru-RU" sz="1000" dirty="0"/>
              <a:t> в </a:t>
            </a:r>
            <a:r>
              <a:rPr lang="en-US" sz="1000" dirty="0" err="1"/>
              <a:t>ParaView</a:t>
            </a:r>
            <a:r>
              <a:rPr lang="en-US" sz="1000" dirty="0"/>
              <a:t> </a:t>
            </a:r>
            <a:r>
              <a:rPr lang="ru-RU" sz="1000" dirty="0"/>
              <a:t>и др.</a:t>
            </a:r>
          </a:p>
          <a:p>
            <a:r>
              <a:rPr lang="en-US" sz="1000" dirty="0"/>
              <a:t>HDF5 – </a:t>
            </a:r>
            <a:r>
              <a:rPr lang="ru-RU" sz="1000" dirty="0"/>
              <a:t>хранение и представление многофакторных параметров данных симуляции</a:t>
            </a:r>
            <a:r>
              <a:rPr lang="en-US" sz="1000" dirty="0"/>
              <a:t>, </a:t>
            </a:r>
            <a:r>
              <a:rPr lang="ru-RU" sz="1000" dirty="0"/>
              <a:t>возможность экспорта и импорта</a:t>
            </a:r>
            <a:r>
              <a:rPr lang="en-US" sz="1000" dirty="0"/>
              <a:t>, </a:t>
            </a:r>
            <a:endParaRPr lang="ru-RU" sz="1000" dirty="0"/>
          </a:p>
          <a:p>
            <a:r>
              <a:rPr lang="ru-RU" sz="1000" dirty="0"/>
              <a:t>разделяемое состояние для параллелизма обработки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B7B9875-F191-3FEF-57F2-9B57D18D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8032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82B00-D211-286F-8792-E26D5990F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26538D-A850-277D-F3D5-4981E1319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0138B802-6CE3-EEB3-D54F-6F50F3ABFA7A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407D5FC-9AA9-4B12-2581-966DB29FD118}"/>
              </a:ext>
            </a:extLst>
          </p:cNvPr>
          <p:cNvSpPr txBox="1"/>
          <p:nvPr/>
        </p:nvSpPr>
        <p:spPr>
          <a:xfrm>
            <a:off x="122831" y="155852"/>
            <a:ext cx="6100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dirty="0">
                <a:latin typeface="Fira Sans Bold"/>
              </a:rPr>
              <a:t>Результаты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A45C7C2-C304-36AD-0764-E664AD93D84D}"/>
              </a:ext>
            </a:extLst>
          </p:cNvPr>
          <p:cNvSpPr txBox="1">
            <a:spLocks/>
          </p:cNvSpPr>
          <p:nvPr/>
        </p:nvSpPr>
        <p:spPr>
          <a:xfrm>
            <a:off x="457200" y="1422541"/>
            <a:ext cx="10693400" cy="3251818"/>
          </a:xfrm>
          <a:prstGeom prst="rect">
            <a:avLst/>
          </a:prstGeom>
        </p:spPr>
        <p:txBody>
          <a:bodyPr vert="horz" lIns="104306" tIns="52153" rIns="104306" bIns="52153" rtlCol="0">
            <a:no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Выполнен литературный обзор</a:t>
            </a:r>
            <a:r>
              <a:rPr lang="en-US" sz="1800" dirty="0"/>
              <a:t>, </a:t>
            </a:r>
            <a:r>
              <a:rPr lang="ru-RU" sz="1800" dirty="0"/>
              <a:t>подготовлена обзорная статья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Выполнено численное моделирование скважин месторождения Х на которых с помощью ГДИ выявлены аномальные падения продуктивности на высоко депрессионных режимах работы.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Выполнена первая итерация разработки физико-математической модели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Выполнено проектирование программного комплекса</a:t>
            </a:r>
            <a:r>
              <a:rPr lang="en-US" sz="1800" dirty="0"/>
              <a:t>, </a:t>
            </a:r>
            <a:r>
              <a:rPr lang="ru-RU" sz="1800" dirty="0"/>
              <a:t>в процессе выполнения реализация.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Разработан план численного эксперимента и верификации результатов.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2E80E38-521A-D69F-DBAC-DE59A8E8C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2590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80ECE-2443-9E90-DBD9-290708358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AE9580-58B1-96B3-B94B-DA433AEBF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661748BD-3DE0-0C6E-5ADD-692C4F3A612A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2A43007-3216-E7D8-306F-C8FE07DD93D5}"/>
              </a:ext>
            </a:extLst>
          </p:cNvPr>
          <p:cNvSpPr txBox="1"/>
          <p:nvPr/>
        </p:nvSpPr>
        <p:spPr>
          <a:xfrm>
            <a:off x="122831" y="155852"/>
            <a:ext cx="6100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dirty="0">
                <a:latin typeface="Fira Sans Bold"/>
              </a:rPr>
              <a:t>Публикации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8BDFCF2B-40B6-7093-11A0-5F0223F5A98E}"/>
              </a:ext>
            </a:extLst>
          </p:cNvPr>
          <p:cNvSpPr txBox="1">
            <a:spLocks/>
          </p:cNvSpPr>
          <p:nvPr/>
        </p:nvSpPr>
        <p:spPr>
          <a:xfrm>
            <a:off x="457200" y="1422541"/>
            <a:ext cx="10693400" cy="2241883"/>
          </a:xfrm>
          <a:prstGeom prst="rect">
            <a:avLst/>
          </a:prstGeom>
        </p:spPr>
        <p:txBody>
          <a:bodyPr vert="horz" lIns="104306" tIns="52153" rIns="104306" bIns="52153" rtlCol="0">
            <a:no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en-US" sz="1800" dirty="0"/>
              <a:t>“</a:t>
            </a:r>
            <a:r>
              <a:rPr lang="ru-RU" sz="1800" dirty="0"/>
              <a:t>Проектирование интеграции для моделирования</a:t>
            </a:r>
            <a:r>
              <a:rPr lang="en-US" sz="1800" dirty="0"/>
              <a:t> </a:t>
            </a:r>
            <a:r>
              <a:rPr lang="ru-RU" sz="1800" dirty="0"/>
              <a:t>процессов выпадения гидратов в призабойной зоне скважин и оценки влияния на продуктивности</a:t>
            </a:r>
            <a:r>
              <a:rPr lang="en-US" sz="1800" dirty="0"/>
              <a:t>”, </a:t>
            </a:r>
            <a:r>
              <a:rPr lang="ru-RU" sz="1800" dirty="0"/>
              <a:t>сборник статей к конференции Высшей Школы нефти </a:t>
            </a:r>
            <a:r>
              <a:rPr lang="en-US" sz="1800" dirty="0"/>
              <a:t>“</a:t>
            </a:r>
            <a:r>
              <a:rPr lang="ru-RU" sz="1800" dirty="0"/>
              <a:t>Трудноизвлекаемые запасы нефти</a:t>
            </a:r>
            <a:r>
              <a:rPr lang="en-US" sz="1800" dirty="0"/>
              <a:t>”, </a:t>
            </a:r>
            <a:r>
              <a:rPr lang="ru-RU" sz="1800" dirty="0"/>
              <a:t>УДК 622.276</a:t>
            </a:r>
            <a:r>
              <a:rPr lang="en-US" sz="1800" dirty="0"/>
              <a:t>, </a:t>
            </a:r>
            <a:r>
              <a:rPr lang="ru-RU" sz="1800" dirty="0"/>
              <a:t>ББК 33.361</a:t>
            </a:r>
            <a:r>
              <a:rPr lang="en-US" sz="1800" dirty="0"/>
              <a:t>, T72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en-US" sz="1800" dirty="0"/>
              <a:t>“</a:t>
            </a:r>
            <a:r>
              <a:rPr lang="ru-RU" sz="1800" dirty="0"/>
              <a:t>Разработка методики моделирования процессов выпадения гидратов в призабойной зоне скважин и оценке влияния на продуктивность</a:t>
            </a:r>
            <a:r>
              <a:rPr lang="en-US" sz="1800" dirty="0"/>
              <a:t>”, </a:t>
            </a:r>
            <a:r>
              <a:rPr lang="ru-RU" sz="1800" dirty="0"/>
              <a:t>Трудноизвлекаемые запасы нефти: материалы ежегодной международной конференции (г. Альметьевск, 24 сентября 2025 года) [Электронный ресурс] / под редакцией Дьяконова А.А. – Альметьевск: АГТУ ВШН, 2025. – 412 с.</a:t>
            </a:r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2A9A5971-5C17-2E0B-9ED7-6C7B8119562D}"/>
              </a:ext>
            </a:extLst>
          </p:cNvPr>
          <p:cNvSpPr txBox="1">
            <a:spLocks/>
          </p:cNvSpPr>
          <p:nvPr/>
        </p:nvSpPr>
        <p:spPr>
          <a:xfrm>
            <a:off x="545912" y="3664424"/>
            <a:ext cx="10693400" cy="2241883"/>
          </a:xfrm>
          <a:prstGeom prst="rect">
            <a:avLst/>
          </a:prstGeom>
        </p:spPr>
        <p:txBody>
          <a:bodyPr vert="horz" lIns="104306" tIns="52153" rIns="104306" bIns="52153" rtlCol="0">
            <a:no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</a:pPr>
            <a:r>
              <a:rPr lang="ru-RU" sz="1800" dirty="0"/>
              <a:t>В процессе подготовки</a:t>
            </a:r>
            <a:r>
              <a:rPr lang="en-US" sz="1800" dirty="0"/>
              <a:t>:</a:t>
            </a:r>
          </a:p>
          <a:p>
            <a:pPr algn="l">
              <a:spcBef>
                <a:spcPts val="600"/>
              </a:spcBef>
            </a:pPr>
            <a:endParaRPr lang="ru-RU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C1532-F573-1CF0-0CA2-FBB80ECBFF14}"/>
              </a:ext>
            </a:extLst>
          </p:cNvPr>
          <p:cNvSpPr txBox="1"/>
          <p:nvPr/>
        </p:nvSpPr>
        <p:spPr>
          <a:xfrm>
            <a:off x="270300" y="4117491"/>
            <a:ext cx="11739730" cy="1787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Обзорная статья на выбор проблематики исследовательской работы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 “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Обзор прикладных задач и методов моделирования процессов тепломассопереноса в пласте при моделировании тепловых методов воздействия на пласт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”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Статья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“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Физико-математическая модель тепломассопереноса в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газовы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пластах с учетом фазовых переходов в газовые гидраты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0C22B9-93EB-662B-20C9-1795290E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580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AF2C8-6609-8CC7-123E-B630BC2F1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DF8575-5138-3189-DD24-A5CD82D63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76F68AB-34F9-A971-2974-26BFA19A2F71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DA79BD65-DE36-6B2C-B18C-7500C22BFA47}"/>
              </a:ext>
            </a:extLst>
          </p:cNvPr>
          <p:cNvSpPr txBox="1">
            <a:spLocks/>
          </p:cNvSpPr>
          <p:nvPr/>
        </p:nvSpPr>
        <p:spPr>
          <a:xfrm>
            <a:off x="261023" y="102379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 fontScale="77500" lnSpcReduction="20000"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Интегральная форма для закона сохранения энергии</a:t>
            </a:r>
          </a:p>
        </p:txBody>
      </p:sp>
      <p:pic>
        <p:nvPicPr>
          <p:cNvPr id="13" name="Рисунок 12" descr="Изображение выглядит как текст, Шрифт, снимок экрана, рукописный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BB8A79A-9F93-2BA7-B9D4-DC890DEFA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510" y="982530"/>
            <a:ext cx="7690291" cy="50323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9925EA5-E8E5-BCEF-15E9-1F9A6A11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434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10350-AA83-14AE-A455-F18BC4613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D03577-34AB-BC46-51A2-E8C74366E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57FF199-B386-7F8E-FF4B-4DD452622B93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A17D52C8-B7FE-A997-5637-039DC5991299}"/>
              </a:ext>
            </a:extLst>
          </p:cNvPr>
          <p:cNvSpPr txBox="1">
            <a:spLocks/>
          </p:cNvSpPr>
          <p:nvPr/>
        </p:nvSpPr>
        <p:spPr>
          <a:xfrm>
            <a:off x="261023" y="102379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 fontScale="85000" lnSpcReduction="10000"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Интегральная форма для закона сохранения массы</a:t>
            </a:r>
          </a:p>
        </p:txBody>
      </p:sp>
      <p:pic>
        <p:nvPicPr>
          <p:cNvPr id="5" name="Рисунок 4" descr="Изображение выглядит как текст, Шрифт, рукописный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B14EF48-9C12-ED34-C069-D06069FD6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147" y="805251"/>
            <a:ext cx="6056918" cy="5283262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7F2F2C4-ABCC-962F-29EF-E81FB851C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01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C4F04-0937-A3AF-D0FF-35B7588DB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BAA7DA-7F09-4C5A-4044-1198261E5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C040DB8-064E-AC5C-CC6D-B1A9750E7934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653E5467-5782-796B-36C7-E5FD55E825E6}"/>
              </a:ext>
            </a:extLst>
          </p:cNvPr>
          <p:cNvSpPr txBox="1">
            <a:spLocks/>
          </p:cNvSpPr>
          <p:nvPr/>
        </p:nvSpPr>
        <p:spPr>
          <a:xfrm>
            <a:off x="261023" y="102379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Архитектура программного комплекса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7FADF-ADAE-B4AA-4D6C-90B9BAB39BEB}"/>
              </a:ext>
            </a:extLst>
          </p:cNvPr>
          <p:cNvSpPr txBox="1"/>
          <p:nvPr/>
        </p:nvSpPr>
        <p:spPr>
          <a:xfrm>
            <a:off x="1055299" y="6142864"/>
            <a:ext cx="1829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</a:t>
            </a:r>
            <a:r>
              <a:rPr lang="en-US" sz="1600" dirty="0"/>
              <a:t>C</a:t>
            </a:r>
            <a:r>
              <a:rPr lang="ru-RU" sz="1600" dirty="0"/>
              <a:t>2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7CED94-CCAE-2237-5CCD-627222A3A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65" y="1117491"/>
            <a:ext cx="11245756" cy="440658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805C295-5907-78E4-26CD-0D3B718E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570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56E9D-AF8E-BC45-08E0-2D4CCA16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5A50B8-2B30-30EA-B972-98F8F76E5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22" y="6213254"/>
            <a:ext cx="1057557" cy="46747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0407FF71-7B9C-9756-C320-81349170A1FB}"/>
              </a:ext>
            </a:extLst>
          </p:cNvPr>
          <p:cNvCxnSpPr/>
          <p:nvPr/>
        </p:nvCxnSpPr>
        <p:spPr>
          <a:xfrm>
            <a:off x="0" y="617517"/>
            <a:ext cx="12192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3C569CDE-D0AB-679C-F74D-135216EF8818}"/>
              </a:ext>
            </a:extLst>
          </p:cNvPr>
          <p:cNvSpPr txBox="1">
            <a:spLocks/>
          </p:cNvSpPr>
          <p:nvPr/>
        </p:nvSpPr>
        <p:spPr>
          <a:xfrm>
            <a:off x="261023" y="102379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Архитектура программного комплекса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26DC4-48E5-0987-A453-1EE55B0A1922}"/>
              </a:ext>
            </a:extLst>
          </p:cNvPr>
          <p:cNvSpPr txBox="1"/>
          <p:nvPr/>
        </p:nvSpPr>
        <p:spPr>
          <a:xfrm>
            <a:off x="1014356" y="6286759"/>
            <a:ext cx="1846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</a:t>
            </a:r>
            <a:r>
              <a:rPr lang="en-US" sz="1600" dirty="0"/>
              <a:t>C</a:t>
            </a:r>
            <a:r>
              <a:rPr lang="ru-RU" sz="1600" dirty="0"/>
              <a:t>3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2F88BCA-CDFA-451B-B2DB-FE89A4042A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22" y="669275"/>
            <a:ext cx="11354937" cy="5493936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4BACC8-ECBC-379F-3DC5-4A8B2272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7048-13AE-42EF-977F-20BE1693D16B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9275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1626</Words>
  <Application>Microsoft Office PowerPoint</Application>
  <PresentationFormat>Широкоэкранный</PresentationFormat>
  <Paragraphs>160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Aptos</vt:lpstr>
      <vt:lpstr>Arial</vt:lpstr>
      <vt:lpstr>Book Antiqua</vt:lpstr>
      <vt:lpstr>Calibri</vt:lpstr>
      <vt:lpstr>Calibri Light</vt:lpstr>
      <vt:lpstr>Cambria Math</vt:lpstr>
      <vt:lpstr>Fira Sans Bold</vt:lpstr>
      <vt:lpstr>Fira Sans ExtraLight</vt:lpstr>
      <vt:lpstr>Times New Roman</vt:lpstr>
      <vt:lpstr>Тема Office</vt:lpstr>
      <vt:lpstr>Развитие математических методов моделирования в задачах тепломассопереноса: численных и аналитических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Мищенко Олег Юрьевич</dc:creator>
  <cp:lastModifiedBy>Alxndr Klbk</cp:lastModifiedBy>
  <cp:revision>87</cp:revision>
  <dcterms:created xsi:type="dcterms:W3CDTF">2021-01-25T10:59:14Z</dcterms:created>
  <dcterms:modified xsi:type="dcterms:W3CDTF">2026-05-21T06:19:17Z</dcterms:modified>
</cp:coreProperties>
</file>